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thesis: nationally the airline industry looks competitive, but on specific hub-dominated corridors a single carrier sets the price. Today we quantify that gap, the “monopoly tax,” using DOT fare data and jet fuel spot prices. Introduce the team, then move to the business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1) Route-level concentration: nationally the industry appears competitive, but hub dominance creates localized monopolies on high-traffic direct corridors. 2) Cost decoupling, our “monopoly tax”: in captive markets, airfares decouple from baseline operational costs, so dominant carriers can sustain price markups regardless of fuel trends. 3) Our objective: benchmark Department of Transportation ticket pricing against jet fuel spot prices to quantify the size of the market-power premium across route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arrows. Step 1, sourcing: dual ingestion, combining DOT DB1B/BTS domestic airfare data with EIA jet fuel spot price benchmarks. Step 2, Python/Pandas: we cleaned multi-carrier itineraries, standardized origin-and-destination airport pairs, and aligned fuel spot prices with ticket transaction timelines, then computed HHI and market share. Step 3, output: a merged panel dataset feeding the regression and price-premium analysis. Features we built: route-level carrier concentration (HHI) and fuel cost-to-fare ratios, compared across competitive vs. hub-dominated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red box first: routes operated as single-carrier monopolies show significantly higher median fares and pronounced upper-quartile outliers compared with competitive corridors. Second, margin compression: median ticket prices step down consistently as competition increases, from duopolies to competitive multi-carrier routes (HHI under 2,500). Third, distribution skew: monopolized and dominant-hub routes have wider interquartile ranges, which signals carrier price-setting discretion and inelastic demand extraction.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chart: the dashed gray line is the Gulf Coast jet fuel spot price, the burgundy line is monopoly or near-monopoly yield, and the slate line is highly concentrated yield. Fuel elasticity: competitive routes closely shadow kerosene spot price swings, which is standard cost-to-price transmission. Asymmetric pricing, “rockets and feathers”: on monopoly corridors, fare drops lag fuel price declines, while fuel spikes are passed through rapidly and amplified. Margin expansion: when jet fuel trends downward, the spread between fuel costs and monopoly yields widens rather than returning consumer savings. Specifically, jet fuel peaked in 2022 Q2 and then fell, with a brief rebound in 2023 Q3, yet monopoly and near-monopoly yield stayed elevated at roughly 48–54¢ per non-stop mile and edged up to about 54¢ by 2026 Q1, versus roughly 31–35¢ for highly concentrated routes. These figures are read off the chart, so confirm them against the underlying data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from Boston–Provincetown down to Deer Harbor–Seattle. Extreme route yields: the top 10 marked-up corridors show fare yields of roughly 268¢ to 474¢ per non-stop mile, about 12 to 25 times the competitive domestic baselines of typically 18¢ to 22¢ per mile. Captive spoke and hub vulnerability: these corridors are dominated by single carriers feeding fortress hubs, so regional passengers have no non-stop alternative. Persistent fuel inelasticity: despite significant declines in kerosene spot prices, yields on these 10 routes stayed flat or expanded. Likely questions: (1) Many of these are very short hops, such as Boston–Provincetown and Block Island–Westerly, so yield per mile is inflated because fixed costs are spread over fewer miles. (2) Three corridors have an HHI of about 5,500 to 6,200, so they are dominant rather than strict monopolies. (3) The fuel point links back to the Finding 2 chart; this table shows yields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audiences. Corporate travel managers: incorporate dynamic HHI and carrier-concentration thresholds into procurement engines to identify captive routes, mandate alternative secondary hubs, and negotiate volume discounts on marked-up corridors. Consumers: fair-fare benchmarking tools compute an expected ticket price from non-stop distance and prevailing jet fuel spot rates, and alert travelers when a quote includes an exorbitant monopoly premium. Regulators: shift merger and slot-allocation evaluations from broad national capacity metrics to granular route-level concentration indices, protecting captive regional spoke markets from unconstrained rent extraction.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limits, then show the roadmap. 1) Data granularity: DOT DB1B is a 10% survey sample reported quarterly, so it obscures intra-month dynamic pricing, day-of-week surges and last-minute business fare spikes. Fares also exclude ancillary revenue (checked bags, seat selection, change fees), which understates true consumer yield on ultra-low-cost carriers. 2) Econometrics: aircraft gauge and seating density vary systematically with route density, adding unobserved cost efficiencies that raw stage-length controls cannot fully absorb. Our yield models evaluate direct origin-destination pairs; adding connecting hub itineraries would quantify full substitution elasticity. 3) Roadmap: move from historical BTS batch ingestion to live GDS / Google Flights API scrapers to track fare markups ahead of departure windows, and deploy a predictive fair-fare microservice that flags anti-competitive corridor premiums and publishes monthly carrier concentration scorecards.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1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11820"/>
            <a:ext cx="10566400" cy="379710"/>
          </a:xfrm>
          <a:prstGeom prst="rect">
            <a:avLst/>
          </a:prstGeom>
          <a:noFill/>
          <a:ln/>
        </p:spPr>
        <p:txBody>
          <a:bodyPr wrap="square" lIns="0" tIns="0" rIns="0" bIns="0" rtlCol="0" anchor="t"/>
          <a:lstStyle>
            <a:lvl1pPr algn="l" indent="0" marL="0">
              <a:lnSpc>
                <a:spcPct val="115000"/>
              </a:lnSpc>
              <a:buNone/>
              <a:defRPr lang="en-US" sz="2600" dirty="0">
                <a:solidFill>
                  <a:srgbClr val="26262A"/>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1596330"/>
            <a:ext cx="10566400" cy="4448870"/>
          </a:xfrm>
          <a:prstGeom prst="rect">
            <a:avLst/>
          </a:prstGeom>
          <a:noFill/>
          <a:ln/>
        </p:spPr>
        <p:txBody>
          <a:bodyPr wrap="square" lIns="0" tIns="0" rIns="0" bIns="0" rtlCol="0" anchor="t"/>
          <a:lstStyle>
            <a:lvl1pPr algn="l" indent="0" marL="0">
              <a:lnSpc>
                <a:spcPct val="140000"/>
              </a:lnSpc>
              <a:buNone/>
              <a:defRPr lang="en-US" sz="1600" dirty="0">
                <a:solidFill>
                  <a:srgbClr val="26262A"/>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1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11820"/>
            <a:ext cx="10566400" cy="379710"/>
          </a:xfrm>
          <a:prstGeom prst="rect">
            <a:avLst/>
          </a:prstGeom>
          <a:noFill/>
          <a:ln/>
        </p:spPr>
        <p:txBody>
          <a:bodyPr wrap="square" lIns="0" tIns="0" rIns="0" bIns="0" rtlCol="0" anchor="t"/>
          <a:lstStyle>
            <a:lvl1pPr algn="l" indent="0" marL="0">
              <a:lnSpc>
                <a:spcPct val="115000"/>
              </a:lnSpc>
              <a:buNone/>
              <a:defRPr lang="en-US" sz="2600" dirty="0">
                <a:solidFill>
                  <a:srgbClr val="26262A"/>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1596330"/>
            <a:ext cx="10566400" cy="4448870"/>
          </a:xfrm>
          <a:prstGeom prst="rect">
            <a:avLst/>
          </a:prstGeom>
          <a:noFill/>
          <a:ln/>
        </p:spPr>
        <p:txBody>
          <a:bodyPr wrap="square" lIns="0" tIns="0" rIns="0" bIns="0" rtlCol="0" anchor="t"/>
          <a:lstStyle>
            <a:lvl1pPr algn="l" indent="0" marL="0">
              <a:lnSpc>
                <a:spcPct val="140000"/>
              </a:lnSpc>
              <a:buNone/>
              <a:defRPr lang="en-US" sz="1600" dirty="0">
                <a:solidFill>
                  <a:srgbClr val="26262A"/>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0"/>
            <a:ext cx="203200" cy="6858000"/>
          </a:xfrm>
          <a:prstGeom prst="rect">
            <a:avLst/>
          </a:prstGeom>
          <a:solidFill>
            <a:srgbClr val="7A1F2B"/>
          </a:solidFill>
          <a:ln/>
        </p:spPr>
      </p:sp>
      <p:pic>
        <p:nvPicPr>
          <p:cNvPr id="3" name="Image 0" descr="Hub-and-spoke airline route network on a dark circular background">    </p:cNvPr>
          <p:cNvPicPr>
            <a:picLocks noChangeAspect="1"/>
          </p:cNvPicPr>
          <p:nvPr/>
        </p:nvPicPr>
        <p:blipFill>
          <a:blip r:embed="rId1"/>
          <a:srcRect l="0" r="0" t="0" b="0"/>
          <a:stretch/>
        </p:blipFill>
        <p:spPr>
          <a:xfrm>
            <a:off x="7620000" y="1549400"/>
            <a:ext cx="3759200" cy="3759200"/>
          </a:xfrm>
          <a:prstGeom prst="rect">
            <a:avLst/>
          </a:prstGeom>
        </p:spPr>
      </p:pic>
      <p:sp>
        <p:nvSpPr>
          <p:cNvPr id="4" name="Text 1"/>
          <p:cNvSpPr/>
          <p:nvPr/>
        </p:nvSpPr>
        <p:spPr>
          <a:xfrm>
            <a:off x="1016000" y="711200"/>
            <a:ext cx="10674096" cy="274290"/>
          </a:xfrm>
          <a:prstGeom prst="rect">
            <a:avLst/>
          </a:prstGeom>
          <a:noFill/>
          <a:ln/>
        </p:spPr>
        <p:txBody>
          <a:bodyPr wrap="square" lIns="0" tIns="0" rIns="0" bIns="0" rtlCol="0" anchor="t">
            <a:normAutofit/>
          </a:bodyPr>
          <a:lstStyle/>
          <a:p>
            <a:pPr algn="l" indent="0" marL="0">
              <a:lnSpc>
                <a:spcPts val="1960"/>
              </a:lnSpc>
              <a:buNone/>
            </a:pPr>
            <a:r>
              <a:rPr lang="en-US" sz="1400" b="1" spc="300" kern="0" dirty="0">
                <a:solidFill>
                  <a:srgbClr val="7A1F2B"/>
                </a:solidFill>
                <a:latin typeface="Public Sans" pitchFamily="34" charset="0"/>
                <a:ea typeface="Public Sans" pitchFamily="34" charset="-122"/>
                <a:cs typeface="Public Sans" pitchFamily="34" charset="-120"/>
              </a:rPr>
              <a:t>MIST 6380</a:t>
            </a:r>
            <a:endParaRPr lang="en-US" sz="1400" dirty="0"/>
          </a:p>
        </p:txBody>
      </p:sp>
      <p:sp>
        <p:nvSpPr>
          <p:cNvPr id="5" name="Shape 2"/>
          <p:cNvSpPr/>
          <p:nvPr/>
        </p:nvSpPr>
        <p:spPr>
          <a:xfrm>
            <a:off x="1016000" y="2264470"/>
            <a:ext cx="711200" cy="50800"/>
          </a:xfrm>
          <a:prstGeom prst="rect">
            <a:avLst/>
          </a:prstGeom>
          <a:solidFill>
            <a:srgbClr val="7A1F2B"/>
          </a:solidFill>
          <a:ln/>
        </p:spPr>
      </p:sp>
      <p:sp>
        <p:nvSpPr>
          <p:cNvPr id="6" name="Text 3"/>
          <p:cNvSpPr/>
          <p:nvPr>
            <p:ph type="title"/>
          </p:nvPr>
        </p:nvSpPr>
        <p:spPr>
          <a:xfrm>
            <a:off x="1016000" y="2543870"/>
            <a:ext cx="7063740" cy="1732161"/>
          </a:xfrm>
          <a:prstGeom prst="rect">
            <a:avLst/>
          </a:prstGeom>
          <a:noFill/>
          <a:ln/>
        </p:spPr>
        <p:txBody>
          <a:bodyPr wrap="square" lIns="0" tIns="0" rIns="0" bIns="0" rtlCol="0" anchor="t">
            <a:normAutofit/>
          </a:bodyPr>
          <a:lstStyle/>
          <a:p>
            <a:pPr algn="l" indent="0" marL="0">
              <a:lnSpc>
                <a:spcPts val="4480"/>
              </a:lnSpc>
              <a:buNone/>
            </a:pPr>
            <a:r>
              <a:rPr lang="en-US" sz="4000" b="1" i="0" dirty="0">
                <a:solidFill>
                  <a:srgbClr val="1C1C20"/>
                </a:solidFill>
                <a:latin typeface="Libre Baskerville" pitchFamily="18" charset="0"/>
                <a:ea typeface="Libre Baskerville" pitchFamily="18" charset="-122"/>
                <a:cs typeface="Libre Baskerville" pitchFamily="18" charset="-120"/>
              </a:rPr>
              <a:t>QUANTIFYING THE AIRLINE “MONOPOLY TAX”</a:t>
            </a:r>
            <a:endParaRPr lang="en-US" sz="4000" dirty="0"/>
          </a:p>
        </p:txBody>
      </p:sp>
      <p:sp>
        <p:nvSpPr>
          <p:cNvPr id="7" name="Text 4"/>
          <p:cNvSpPr/>
          <p:nvPr/>
        </p:nvSpPr>
        <p:spPr>
          <a:xfrm>
            <a:off x="1016000" y="5555010"/>
            <a:ext cx="1067409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C1C20"/>
                </a:solidFill>
                <a:latin typeface="Public Sans" pitchFamily="34" charset="0"/>
                <a:ea typeface="Public Sans" pitchFamily="34" charset="-122"/>
                <a:cs typeface="Public Sans" pitchFamily="34" charset="-120"/>
              </a:rPr>
              <a:t>By: Ben An, Dan Mosu, Kai Clancy, Kate Bloom, Priyanka Govani</a:t>
            </a:r>
            <a:endParaRPr lang="en-US" sz="1500" dirty="0"/>
          </a:p>
        </p:txBody>
      </p:sp>
      <p:sp>
        <p:nvSpPr>
          <p:cNvPr id="8" name="Text 5"/>
          <p:cNvSpPr/>
          <p:nvPr/>
        </p:nvSpPr>
        <p:spPr>
          <a:xfrm>
            <a:off x="1016000" y="5897910"/>
            <a:ext cx="1067409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A50"/>
                </a:solidFill>
                <a:latin typeface="Public Sans" pitchFamily="34" charset="0"/>
                <a:ea typeface="Public Sans" pitchFamily="34" charset="-122"/>
                <a:cs typeface="Public Sans" pitchFamily="34" charset="-120"/>
              </a:rPr>
              <a:t>10/22/2026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1EC"/>
        </a:solidFill>
      </p:bgPr>
    </p:bg>
    <p:spTree>
      <p:nvGrpSpPr>
        <p:cNvPr id="1" name=""/>
        <p:cNvGrpSpPr/>
        <p:nvPr/>
      </p:nvGrpSpPr>
      <p:grpSpPr>
        <a:xfrm>
          <a:off x="0" y="0"/>
          <a:ext cx="0" cy="0"/>
          <a:chOff x="0" y="0"/>
          <a:chExt cx="0" cy="0"/>
        </a:xfrm>
      </p:grpSpPr>
      <p:sp>
        <p:nvSpPr>
          <p:cNvPr id="2" name="Shape 0"/>
          <p:cNvSpPr/>
          <p:nvPr/>
        </p:nvSpPr>
        <p:spPr>
          <a:xfrm>
            <a:off x="812800" y="697210"/>
            <a:ext cx="304800" cy="38100"/>
          </a:xfrm>
          <a:prstGeom prst="rect">
            <a:avLst/>
          </a:prstGeom>
          <a:solidFill>
            <a:srgbClr val="7A1F2B"/>
          </a:solidFill>
          <a:ln/>
        </p:spPr>
      </p:sp>
      <p:sp>
        <p:nvSpPr>
          <p:cNvPr id="3" name="Text 1"/>
          <p:cNvSpPr/>
          <p:nvPr/>
        </p:nvSpPr>
        <p:spPr>
          <a:xfrm>
            <a:off x="1219200" y="609600"/>
            <a:ext cx="156299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1F2B"/>
                </a:solidFill>
                <a:latin typeface="Public Sans" pitchFamily="34" charset="0"/>
                <a:ea typeface="Public Sans" pitchFamily="34" charset="-122"/>
                <a:cs typeface="Public Sans" pitchFamily="34" charset="-120"/>
              </a:rPr>
              <a:t>THE PROBLEM</a:t>
            </a:r>
            <a:endParaRPr lang="en-US" sz="1200" dirty="0"/>
          </a:p>
        </p:txBody>
      </p:sp>
      <p:sp>
        <p:nvSpPr>
          <p:cNvPr id="4" name="Text 2"/>
          <p:cNvSpPr/>
          <p:nvPr>
            <p:ph type="title"/>
          </p:nvPr>
        </p:nvSpPr>
        <p:spPr>
          <a:xfrm>
            <a:off x="812800" y="91182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26262A"/>
                </a:solidFill>
                <a:latin typeface="Libre Baskerville" pitchFamily="18" charset="0"/>
                <a:ea typeface="Libre Baskerville" pitchFamily="18" charset="-122"/>
                <a:cs typeface="Libre Baskerville" pitchFamily="18" charset="-120"/>
              </a:rPr>
              <a:t>BUSINESS CONTEXT: THE AIRLINE MONOPOLY TAX</a:t>
            </a:r>
            <a:endParaRPr lang="en-US" sz="2600" dirty="0"/>
          </a:p>
        </p:txBody>
      </p:sp>
      <p:sp>
        <p:nvSpPr>
          <p:cNvPr id="5" name="Shape 3"/>
          <p:cNvSpPr/>
          <p:nvPr/>
        </p:nvSpPr>
        <p:spPr>
          <a:xfrm>
            <a:off x="815975" y="1599505"/>
            <a:ext cx="3384550" cy="4239320"/>
          </a:xfrm>
          <a:prstGeom prst="roundRect">
            <a:avLst>
              <a:gd name="adj" fmla="val 3659"/>
            </a:avLst>
          </a:prstGeom>
          <a:solidFill>
            <a:srgbClr val="FBFAF7"/>
          </a:solidFill>
          <a:ln w="6350">
            <a:solidFill>
              <a:srgbClr val="DDD8CE"/>
            </a:solidFill>
            <a:prstDash val="solid"/>
          </a:ln>
        </p:spPr>
      </p:sp>
      <p:pic>
        <p:nvPicPr>
          <p:cNvPr id="6" name="Image 0" descr="Hub-and-spoke network">    </p:cNvPr>
          <p:cNvPicPr>
            <a:picLocks noChangeAspect="1"/>
          </p:cNvPicPr>
          <p:nvPr/>
        </p:nvPicPr>
        <p:blipFill>
          <a:blip r:embed="rId1"/>
          <a:srcRect l="0" r="0" t="0" b="0"/>
          <a:stretch/>
        </p:blipFill>
        <p:spPr>
          <a:xfrm>
            <a:off x="1073150" y="1856680"/>
            <a:ext cx="558800" cy="558800"/>
          </a:xfrm>
          <a:prstGeom prst="rect">
            <a:avLst/>
          </a:prstGeom>
        </p:spPr>
      </p:pic>
      <p:sp>
        <p:nvSpPr>
          <p:cNvPr id="7" name="Text 4"/>
          <p:cNvSpPr/>
          <p:nvPr/>
        </p:nvSpPr>
        <p:spPr>
          <a:xfrm>
            <a:off x="1073150" y="2567880"/>
            <a:ext cx="2956306"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A"/>
                </a:solidFill>
                <a:latin typeface="Libre Baskerville" pitchFamily="18" charset="0"/>
                <a:ea typeface="Libre Baskerville" pitchFamily="18" charset="-122"/>
                <a:cs typeface="Libre Baskerville" pitchFamily="18" charset="-120"/>
              </a:rPr>
              <a:t>Route-Level Concentration</a:t>
            </a:r>
            <a:endParaRPr lang="en-US" sz="1800" dirty="0"/>
          </a:p>
        </p:txBody>
      </p:sp>
      <p:sp>
        <p:nvSpPr>
          <p:cNvPr id="8" name="Text 5"/>
          <p:cNvSpPr/>
          <p:nvPr/>
        </p:nvSpPr>
        <p:spPr>
          <a:xfrm>
            <a:off x="1156970" y="3268861"/>
            <a:ext cx="2864866" cy="558800"/>
          </a:xfrm>
          <a:prstGeom prst="rect">
            <a:avLst/>
          </a:prstGeom>
          <a:noFill/>
          <a:ln/>
        </p:spPr>
        <p:txBody>
          <a:bodyPr wrap="square" lIns="0" tIns="0" rIns="0" bIns="0" rtlCol="0" anchor="t">
            <a:normAutofit/>
          </a:bodyPr>
          <a:lstStyle/>
          <a:p>
            <a:pPr algn="l" marL="170180" indent="-170180">
              <a:lnSpc>
                <a:spcPts val="2100"/>
              </a:lnSpc>
              <a:buSzPct val="100000"/>
              <a:buChar char="•"/>
            </a:pPr>
            <a:r>
              <a:rPr lang="en-US" sz="1500" dirty="0">
                <a:solidFill>
                  <a:srgbClr val="4A4A50"/>
                </a:solidFill>
                <a:latin typeface="Public Sans" pitchFamily="34" charset="0"/>
                <a:ea typeface="Public Sans" pitchFamily="34" charset="-122"/>
                <a:cs typeface="Public Sans" pitchFamily="34" charset="-120"/>
              </a:rPr>
              <a:t>Industry looks competitive nationally</a:t>
            </a:r>
            <a:endParaRPr lang="en-US" sz="1500" dirty="0"/>
          </a:p>
        </p:txBody>
      </p:sp>
      <p:sp>
        <p:nvSpPr>
          <p:cNvPr id="9" name="Text 6"/>
          <p:cNvSpPr/>
          <p:nvPr/>
        </p:nvSpPr>
        <p:spPr>
          <a:xfrm>
            <a:off x="1156970" y="3916561"/>
            <a:ext cx="2864866" cy="825500"/>
          </a:xfrm>
          <a:prstGeom prst="rect">
            <a:avLst/>
          </a:prstGeom>
          <a:noFill/>
          <a:ln/>
        </p:spPr>
        <p:txBody>
          <a:bodyPr wrap="square" lIns="0" tIns="0" rIns="0" bIns="0" rtlCol="0" anchor="t">
            <a:normAutofit/>
          </a:bodyPr>
          <a:lstStyle/>
          <a:p>
            <a:pPr algn="l" marL="170180" indent="-170180">
              <a:lnSpc>
                <a:spcPts val="2100"/>
              </a:lnSpc>
              <a:buSzPct val="100000"/>
              <a:buChar char="•"/>
            </a:pPr>
            <a:r>
              <a:rPr lang="en-US" sz="1500" dirty="0">
                <a:solidFill>
                  <a:srgbClr val="4A4A50"/>
                </a:solidFill>
                <a:latin typeface="Public Sans" pitchFamily="34" charset="0"/>
                <a:ea typeface="Public Sans" pitchFamily="34" charset="-122"/>
                <a:cs typeface="Public Sans" pitchFamily="34" charset="-120"/>
              </a:rPr>
              <a:t>Hub dominance creates localized monopolies on high-traffic direct corridors</a:t>
            </a:r>
            <a:endParaRPr lang="en-US" sz="1500" dirty="0"/>
          </a:p>
        </p:txBody>
      </p:sp>
      <p:sp>
        <p:nvSpPr>
          <p:cNvPr id="10" name="Shape 7"/>
          <p:cNvSpPr/>
          <p:nvPr/>
        </p:nvSpPr>
        <p:spPr>
          <a:xfrm>
            <a:off x="4410075" y="1599505"/>
            <a:ext cx="3384550" cy="4239320"/>
          </a:xfrm>
          <a:prstGeom prst="roundRect">
            <a:avLst>
              <a:gd name="adj" fmla="val 3659"/>
            </a:avLst>
          </a:prstGeom>
          <a:solidFill>
            <a:srgbClr val="FBFAF7"/>
          </a:solidFill>
          <a:ln w="6350">
            <a:solidFill>
              <a:srgbClr val="DDD8CE"/>
            </a:solidFill>
            <a:prstDash val="solid"/>
          </a:ln>
        </p:spPr>
      </p:sp>
      <p:sp>
        <p:nvSpPr>
          <p:cNvPr id="11" name="Shape 8"/>
          <p:cNvSpPr/>
          <p:nvPr/>
        </p:nvSpPr>
        <p:spPr>
          <a:xfrm>
            <a:off x="4667250" y="1856680"/>
            <a:ext cx="558800" cy="558800"/>
          </a:xfrm>
          <a:prstGeom prst="roundRect">
            <a:avLst>
              <a:gd name="adj" fmla="val 50000"/>
            </a:avLst>
          </a:prstGeom>
          <a:solidFill>
            <a:srgbClr val="7A1F2B"/>
          </a:solidFill>
          <a:ln/>
        </p:spPr>
      </p:sp>
      <p:pic>
        <p:nvPicPr>
          <p:cNvPr id="12" name="Image 1" descr="Lock">    </p:cNvPr>
          <p:cNvPicPr>
            <a:picLocks noChangeAspect="1"/>
          </p:cNvPicPr>
          <p:nvPr/>
        </p:nvPicPr>
        <p:blipFill>
          <a:blip r:embed="rId2"/>
          <a:srcRect l="0" r="0" t="0" b="0"/>
          <a:stretch/>
        </p:blipFill>
        <p:spPr>
          <a:xfrm>
            <a:off x="4806950" y="1996380"/>
            <a:ext cx="279400" cy="279400"/>
          </a:xfrm>
          <a:prstGeom prst="rect">
            <a:avLst/>
          </a:prstGeom>
        </p:spPr>
      </p:pic>
      <p:sp>
        <p:nvSpPr>
          <p:cNvPr id="13" name="Text 9"/>
          <p:cNvSpPr/>
          <p:nvPr/>
        </p:nvSpPr>
        <p:spPr>
          <a:xfrm>
            <a:off x="4667250" y="2567880"/>
            <a:ext cx="2956306"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A"/>
                </a:solidFill>
                <a:latin typeface="Libre Baskerville" pitchFamily="18" charset="0"/>
                <a:ea typeface="Libre Baskerville" pitchFamily="18" charset="-122"/>
                <a:cs typeface="Libre Baskerville" pitchFamily="18" charset="-120"/>
              </a:rPr>
              <a:t>Cost Decoupling (“Monopoly Tax”)</a:t>
            </a:r>
            <a:endParaRPr lang="en-US" sz="1800" dirty="0"/>
          </a:p>
        </p:txBody>
      </p:sp>
      <p:sp>
        <p:nvSpPr>
          <p:cNvPr id="14" name="Text 10"/>
          <p:cNvSpPr/>
          <p:nvPr/>
        </p:nvSpPr>
        <p:spPr>
          <a:xfrm>
            <a:off x="4751070" y="3268861"/>
            <a:ext cx="2864866" cy="825500"/>
          </a:xfrm>
          <a:prstGeom prst="rect">
            <a:avLst/>
          </a:prstGeom>
          <a:noFill/>
          <a:ln/>
        </p:spPr>
        <p:txBody>
          <a:bodyPr wrap="square" lIns="0" tIns="0" rIns="0" bIns="0" rtlCol="0" anchor="t">
            <a:normAutofit/>
          </a:bodyPr>
          <a:lstStyle/>
          <a:p>
            <a:pPr algn="l" marL="170180" indent="-170180">
              <a:lnSpc>
                <a:spcPts val="2100"/>
              </a:lnSpc>
              <a:buSzPct val="100000"/>
              <a:buChar char="•"/>
            </a:pPr>
            <a:r>
              <a:rPr lang="en-US" sz="1500" dirty="0">
                <a:solidFill>
                  <a:srgbClr val="4A4A50"/>
                </a:solidFill>
                <a:latin typeface="Public Sans" pitchFamily="34" charset="0"/>
                <a:ea typeface="Public Sans" pitchFamily="34" charset="-122"/>
                <a:cs typeface="Public Sans" pitchFamily="34" charset="-120"/>
              </a:rPr>
              <a:t>In captive markets, fares decouple from baseline operating costs</a:t>
            </a:r>
            <a:endParaRPr lang="en-US" sz="1500" dirty="0"/>
          </a:p>
        </p:txBody>
      </p:sp>
      <p:sp>
        <p:nvSpPr>
          <p:cNvPr id="15" name="Text 11"/>
          <p:cNvSpPr/>
          <p:nvPr/>
        </p:nvSpPr>
        <p:spPr>
          <a:xfrm>
            <a:off x="4751070" y="4183261"/>
            <a:ext cx="2864866" cy="825500"/>
          </a:xfrm>
          <a:prstGeom prst="rect">
            <a:avLst/>
          </a:prstGeom>
          <a:noFill/>
          <a:ln/>
        </p:spPr>
        <p:txBody>
          <a:bodyPr wrap="square" lIns="0" tIns="0" rIns="0" bIns="0" rtlCol="0" anchor="t">
            <a:normAutofit/>
          </a:bodyPr>
          <a:lstStyle/>
          <a:p>
            <a:pPr algn="l" marL="170180" indent="-170180">
              <a:lnSpc>
                <a:spcPts val="2100"/>
              </a:lnSpc>
              <a:buSzPct val="100000"/>
              <a:buChar char="•"/>
            </a:pPr>
            <a:r>
              <a:rPr lang="en-US" sz="1500" dirty="0">
                <a:solidFill>
                  <a:srgbClr val="4A4A50"/>
                </a:solidFill>
                <a:latin typeface="Public Sans" pitchFamily="34" charset="0"/>
                <a:ea typeface="Public Sans" pitchFamily="34" charset="-122"/>
                <a:cs typeface="Public Sans" pitchFamily="34" charset="-120"/>
              </a:rPr>
              <a:t>Dominant carriers sustain price markups regardless of fuel trends</a:t>
            </a:r>
            <a:endParaRPr lang="en-US" sz="1500" dirty="0"/>
          </a:p>
        </p:txBody>
      </p:sp>
      <p:sp>
        <p:nvSpPr>
          <p:cNvPr id="16" name="Shape 12"/>
          <p:cNvSpPr/>
          <p:nvPr/>
        </p:nvSpPr>
        <p:spPr>
          <a:xfrm>
            <a:off x="8001000" y="1596330"/>
            <a:ext cx="3378200" cy="4245670"/>
          </a:xfrm>
          <a:prstGeom prst="roundRect">
            <a:avLst>
              <a:gd name="adj" fmla="val 3759"/>
            </a:avLst>
          </a:prstGeom>
          <a:solidFill>
            <a:srgbClr val="26262A"/>
          </a:solidFill>
          <a:ln/>
        </p:spPr>
      </p:sp>
      <p:sp>
        <p:nvSpPr>
          <p:cNvPr id="17" name="Shape 13"/>
          <p:cNvSpPr/>
          <p:nvPr/>
        </p:nvSpPr>
        <p:spPr>
          <a:xfrm>
            <a:off x="8255000" y="1850330"/>
            <a:ext cx="558800" cy="558800"/>
          </a:xfrm>
          <a:prstGeom prst="roundRect">
            <a:avLst>
              <a:gd name="adj" fmla="val 50000"/>
            </a:avLst>
          </a:prstGeom>
          <a:solidFill>
            <a:srgbClr val="B3262E"/>
          </a:solidFill>
          <a:ln/>
        </p:spPr>
      </p:sp>
      <p:pic>
        <p:nvPicPr>
          <p:cNvPr id="18" name="Image 2" descr="Search">    </p:cNvPr>
          <p:cNvPicPr>
            <a:picLocks noChangeAspect="1"/>
          </p:cNvPicPr>
          <p:nvPr/>
        </p:nvPicPr>
        <p:blipFill>
          <a:blip r:embed="rId3"/>
          <a:srcRect l="0" r="0" t="0" b="0"/>
          <a:stretch/>
        </p:blipFill>
        <p:spPr>
          <a:xfrm>
            <a:off x="8394700" y="1990030"/>
            <a:ext cx="279400" cy="279400"/>
          </a:xfrm>
          <a:prstGeom prst="rect">
            <a:avLst/>
          </a:prstGeom>
        </p:spPr>
      </p:pic>
      <p:sp>
        <p:nvSpPr>
          <p:cNvPr id="19" name="Text 14"/>
          <p:cNvSpPr/>
          <p:nvPr/>
        </p:nvSpPr>
        <p:spPr>
          <a:xfrm>
            <a:off x="8255000" y="2561530"/>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F1EC"/>
                </a:solidFill>
                <a:latin typeface="Libre Baskerville" pitchFamily="18" charset="0"/>
                <a:ea typeface="Libre Baskerville" pitchFamily="18" charset="-122"/>
                <a:cs typeface="Libre Baskerville" pitchFamily="18" charset="-120"/>
              </a:rPr>
              <a:t>Analytical Objective</a:t>
            </a:r>
            <a:endParaRPr lang="en-US" sz="1800" dirty="0"/>
          </a:p>
        </p:txBody>
      </p:sp>
      <p:sp>
        <p:nvSpPr>
          <p:cNvPr id="20" name="Text 15"/>
          <p:cNvSpPr/>
          <p:nvPr/>
        </p:nvSpPr>
        <p:spPr>
          <a:xfrm>
            <a:off x="8338820" y="2988221"/>
            <a:ext cx="2864866" cy="825500"/>
          </a:xfrm>
          <a:prstGeom prst="rect">
            <a:avLst/>
          </a:prstGeom>
          <a:noFill/>
          <a:ln/>
        </p:spPr>
        <p:txBody>
          <a:bodyPr wrap="square" lIns="0" tIns="0" rIns="0" bIns="0" rtlCol="0" anchor="t">
            <a:normAutofit/>
          </a:bodyPr>
          <a:lstStyle/>
          <a:p>
            <a:pPr algn="l" marL="170180" indent="-170180">
              <a:lnSpc>
                <a:spcPts val="2100"/>
              </a:lnSpc>
              <a:buSzPct val="100000"/>
              <a:buChar char="•"/>
            </a:pPr>
            <a:r>
              <a:rPr lang="en-US" sz="1500" dirty="0">
                <a:solidFill>
                  <a:srgbClr val="D6D2C8"/>
                </a:solidFill>
                <a:latin typeface="Public Sans" pitchFamily="34" charset="0"/>
                <a:ea typeface="Public Sans" pitchFamily="34" charset="-122"/>
                <a:cs typeface="Public Sans" pitchFamily="34" charset="-120"/>
              </a:rPr>
              <a:t>Benchmark Department of Transportation ticket pricing against jet fuel spot prices</a:t>
            </a:r>
            <a:endParaRPr lang="en-US" sz="1500" dirty="0"/>
          </a:p>
        </p:txBody>
      </p:sp>
      <p:sp>
        <p:nvSpPr>
          <p:cNvPr id="21" name="Text 16"/>
          <p:cNvSpPr/>
          <p:nvPr/>
        </p:nvSpPr>
        <p:spPr>
          <a:xfrm>
            <a:off x="8338820" y="3902621"/>
            <a:ext cx="2864866" cy="825500"/>
          </a:xfrm>
          <a:prstGeom prst="rect">
            <a:avLst/>
          </a:prstGeom>
          <a:noFill/>
          <a:ln/>
        </p:spPr>
        <p:txBody>
          <a:bodyPr wrap="square" lIns="0" tIns="0" rIns="0" bIns="0" rtlCol="0" anchor="t">
            <a:normAutofit/>
          </a:bodyPr>
          <a:lstStyle/>
          <a:p>
            <a:pPr algn="l" marL="170180" indent="-170180">
              <a:lnSpc>
                <a:spcPts val="2100"/>
              </a:lnSpc>
              <a:buSzPct val="100000"/>
              <a:buChar char="•"/>
            </a:pPr>
            <a:r>
              <a:rPr lang="en-US" sz="1500" dirty="0">
                <a:solidFill>
                  <a:srgbClr val="D6D2C8"/>
                </a:solidFill>
                <a:latin typeface="Public Sans" pitchFamily="34" charset="0"/>
                <a:ea typeface="Public Sans" pitchFamily="34" charset="-122"/>
                <a:cs typeface="Public Sans" pitchFamily="34" charset="-120"/>
              </a:rPr>
              <a:t>Quantify market-power premiums across route categories</a:t>
            </a:r>
            <a:endParaRPr lang="en-US" sz="1500" dirty="0"/>
          </a:p>
        </p:txBody>
      </p:sp>
      <p:sp>
        <p:nvSpPr>
          <p:cNvPr id="22" name="Text 1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B6B70"/>
                </a:solidFill>
                <a:latin typeface="Public Sans" pitchFamily="34" charset="0"/>
                <a:ea typeface="Public Sans" pitchFamily="34" charset="-122"/>
                <a:cs typeface="Public Sans" pitchFamily="34" charset="-120"/>
              </a:rPr>
              <a:t>Quantifying the Airline “Monopoly Tax” · MIST 6380</a:t>
            </a:r>
            <a:endParaRPr lang="en-US" sz="1200" dirty="0"/>
          </a:p>
        </p:txBody>
      </p:sp>
      <p:sp>
        <p:nvSpPr>
          <p:cNvPr id="23"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7A1F2B"/>
                </a:solidFill>
                <a:latin typeface="Public Sans" pitchFamily="34" charset="0"/>
                <a:ea typeface="Public Sans" pitchFamily="34" charset="-122"/>
                <a:cs typeface="Public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1EC"/>
        </a:solidFill>
      </p:bgPr>
    </p:bg>
    <p:spTree>
      <p:nvGrpSpPr>
        <p:cNvPr id="1" name=""/>
        <p:cNvGrpSpPr/>
        <p:nvPr/>
      </p:nvGrpSpPr>
      <p:grpSpPr>
        <a:xfrm>
          <a:off x="0" y="0"/>
          <a:ext cx="0" cy="0"/>
          <a:chOff x="0" y="0"/>
          <a:chExt cx="0" cy="0"/>
        </a:xfrm>
      </p:grpSpPr>
      <p:sp>
        <p:nvSpPr>
          <p:cNvPr id="2" name="Shape 0"/>
          <p:cNvSpPr/>
          <p:nvPr/>
        </p:nvSpPr>
        <p:spPr>
          <a:xfrm>
            <a:off x="812800" y="697210"/>
            <a:ext cx="304800" cy="38100"/>
          </a:xfrm>
          <a:prstGeom prst="rect">
            <a:avLst/>
          </a:prstGeom>
          <a:solidFill>
            <a:srgbClr val="7A1F2B"/>
          </a:solidFill>
          <a:ln/>
        </p:spPr>
      </p:sp>
      <p:sp>
        <p:nvSpPr>
          <p:cNvPr id="3" name="Text 1"/>
          <p:cNvSpPr/>
          <p:nvPr/>
        </p:nvSpPr>
        <p:spPr>
          <a:xfrm>
            <a:off x="1219200" y="609600"/>
            <a:ext cx="145196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1F2B"/>
                </a:solidFill>
                <a:latin typeface="Public Sans" pitchFamily="34" charset="0"/>
                <a:ea typeface="Public Sans" pitchFamily="34" charset="-122"/>
                <a:cs typeface="Public Sans" pitchFamily="34" charset="-120"/>
              </a:rPr>
              <a:t>THE METHOD</a:t>
            </a:r>
            <a:endParaRPr lang="en-US" sz="1200" dirty="0"/>
          </a:p>
        </p:txBody>
      </p:sp>
      <p:sp>
        <p:nvSpPr>
          <p:cNvPr id="4" name="Text 2"/>
          <p:cNvSpPr/>
          <p:nvPr>
            <p:ph type="title"/>
          </p:nvPr>
        </p:nvSpPr>
        <p:spPr>
          <a:xfrm>
            <a:off x="812800" y="91182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26262A"/>
                </a:solidFill>
                <a:latin typeface="Libre Baskerville" pitchFamily="18" charset="0"/>
                <a:ea typeface="Libre Baskerville" pitchFamily="18" charset="-122"/>
                <a:cs typeface="Libre Baskerville" pitchFamily="18" charset="-120"/>
              </a:rPr>
              <a:t>PIPELINE ARCHITECTURE</a:t>
            </a:r>
            <a:endParaRPr lang="en-US" sz="2600" dirty="0"/>
          </a:p>
        </p:txBody>
      </p:sp>
      <p:sp>
        <p:nvSpPr>
          <p:cNvPr id="5" name="Shape 3"/>
          <p:cNvSpPr/>
          <p:nvPr/>
        </p:nvSpPr>
        <p:spPr>
          <a:xfrm>
            <a:off x="815975" y="1548705"/>
            <a:ext cx="3181350" cy="1671241"/>
          </a:xfrm>
          <a:prstGeom prst="roundRect">
            <a:avLst>
              <a:gd name="adj" fmla="val 7409"/>
            </a:avLst>
          </a:prstGeom>
          <a:solidFill>
            <a:srgbClr val="FBFAF7"/>
          </a:solidFill>
          <a:ln w="6350">
            <a:solidFill>
              <a:srgbClr val="DDD8CE"/>
            </a:solidFill>
            <a:prstDash val="solid"/>
          </a:ln>
        </p:spPr>
      </p:sp>
      <p:sp>
        <p:nvSpPr>
          <p:cNvPr id="6" name="Shape 4"/>
          <p:cNvSpPr/>
          <p:nvPr/>
        </p:nvSpPr>
        <p:spPr>
          <a:xfrm>
            <a:off x="996950" y="1729680"/>
            <a:ext cx="457200" cy="457200"/>
          </a:xfrm>
          <a:prstGeom prst="roundRect">
            <a:avLst>
              <a:gd name="adj" fmla="val 50000"/>
            </a:avLst>
          </a:prstGeom>
          <a:solidFill>
            <a:srgbClr val="7A1F2B"/>
          </a:solidFill>
          <a:ln/>
        </p:spPr>
      </p:sp>
      <p:pic>
        <p:nvPicPr>
          <p:cNvPr id="7" name="Image 0" descr="Database">    </p:cNvPr>
          <p:cNvPicPr>
            <a:picLocks noChangeAspect="1"/>
          </p:cNvPicPr>
          <p:nvPr/>
        </p:nvPicPr>
        <p:blipFill>
          <a:blip r:embed="rId1"/>
          <a:srcRect l="0" r="0" t="0" b="0"/>
          <a:stretch/>
        </p:blipFill>
        <p:spPr>
          <a:xfrm>
            <a:off x="1111250" y="1843980"/>
            <a:ext cx="228600" cy="228600"/>
          </a:xfrm>
          <a:prstGeom prst="rect">
            <a:avLst/>
          </a:prstGeom>
        </p:spPr>
      </p:pic>
      <p:sp>
        <p:nvSpPr>
          <p:cNvPr id="8" name="Text 5"/>
          <p:cNvSpPr/>
          <p:nvPr/>
        </p:nvSpPr>
        <p:spPr>
          <a:xfrm>
            <a:off x="1581150" y="1836341"/>
            <a:ext cx="100929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6262A"/>
                </a:solidFill>
                <a:latin typeface="Libre Baskerville" pitchFamily="18" charset="0"/>
                <a:ea typeface="Libre Baskerville" pitchFamily="18" charset="-122"/>
                <a:cs typeface="Libre Baskerville" pitchFamily="18" charset="-120"/>
              </a:rPr>
              <a:t>Sources</a:t>
            </a:r>
            <a:endParaRPr lang="en-US" sz="1600" dirty="0"/>
          </a:p>
        </p:txBody>
      </p:sp>
      <p:sp>
        <p:nvSpPr>
          <p:cNvPr id="9" name="Text 6"/>
          <p:cNvSpPr/>
          <p:nvPr/>
        </p:nvSpPr>
        <p:spPr>
          <a:xfrm>
            <a:off x="996950" y="2288480"/>
            <a:ext cx="290398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A50"/>
                </a:solidFill>
                <a:latin typeface="Public Sans" pitchFamily="34" charset="0"/>
                <a:ea typeface="Public Sans" pitchFamily="34" charset="-122"/>
                <a:cs typeface="Public Sans" pitchFamily="34" charset="-120"/>
              </a:rPr>
              <a:t>DOT Airfare API / Datasets</a:t>
            </a:r>
            <a:endParaRPr lang="en-US" sz="1400" dirty="0"/>
          </a:p>
          <a:p>
            <a:pPr algn="l" indent="0" marL="0">
              <a:lnSpc>
                <a:spcPts val="1890"/>
              </a:lnSpc>
              <a:buNone/>
            </a:pPr>
            <a:r>
              <a:rPr lang="en-US" sz="1400" dirty="0">
                <a:solidFill>
                  <a:srgbClr val="4A4A50"/>
                </a:solidFill>
                <a:latin typeface="Public Sans" pitchFamily="34" charset="0"/>
                <a:ea typeface="Public Sans" pitchFamily="34" charset="-122"/>
                <a:cs typeface="Public Sans" pitchFamily="34" charset="-120"/>
              </a:rPr>
              <a:t>+ EIA Jet Fuel Spot Prices</a:t>
            </a:r>
            <a:endParaRPr lang="en-US" sz="1400" dirty="0"/>
          </a:p>
        </p:txBody>
      </p:sp>
      <p:pic>
        <p:nvPicPr>
          <p:cNvPr id="10" name="Image 1" descr="arrow-right">    </p:cNvPr>
          <p:cNvPicPr>
            <a:picLocks noChangeAspect="1"/>
          </p:cNvPicPr>
          <p:nvPr/>
        </p:nvPicPr>
        <p:blipFill>
          <a:blip r:embed="rId2"/>
          <a:srcRect l="0" r="0" t="0" b="0"/>
          <a:stretch/>
        </p:blipFill>
        <p:spPr>
          <a:xfrm>
            <a:off x="4076700" y="2270026"/>
            <a:ext cx="355600" cy="228600"/>
          </a:xfrm>
          <a:prstGeom prst="rect">
            <a:avLst/>
          </a:prstGeom>
        </p:spPr>
      </p:pic>
      <p:sp>
        <p:nvSpPr>
          <p:cNvPr id="11" name="Shape 7"/>
          <p:cNvSpPr/>
          <p:nvPr/>
        </p:nvSpPr>
        <p:spPr>
          <a:xfrm>
            <a:off x="4511675" y="1548705"/>
            <a:ext cx="3181350" cy="1671241"/>
          </a:xfrm>
          <a:prstGeom prst="roundRect">
            <a:avLst>
              <a:gd name="adj" fmla="val 7409"/>
            </a:avLst>
          </a:prstGeom>
          <a:solidFill>
            <a:srgbClr val="FBFAF7"/>
          </a:solidFill>
          <a:ln w="6350">
            <a:solidFill>
              <a:srgbClr val="DDD8CE"/>
            </a:solidFill>
            <a:prstDash val="solid"/>
          </a:ln>
        </p:spPr>
      </p:sp>
      <p:sp>
        <p:nvSpPr>
          <p:cNvPr id="12" name="Shape 8"/>
          <p:cNvSpPr/>
          <p:nvPr/>
        </p:nvSpPr>
        <p:spPr>
          <a:xfrm>
            <a:off x="4692650" y="1744911"/>
            <a:ext cx="457200" cy="457200"/>
          </a:xfrm>
          <a:prstGeom prst="roundRect">
            <a:avLst>
              <a:gd name="adj" fmla="val 50000"/>
            </a:avLst>
          </a:prstGeom>
          <a:solidFill>
            <a:srgbClr val="7A1F2B"/>
          </a:solidFill>
          <a:ln/>
        </p:spPr>
      </p:sp>
      <p:pic>
        <p:nvPicPr>
          <p:cNvPr id="13" name="Image 2" descr="Code">    </p:cNvPr>
          <p:cNvPicPr>
            <a:picLocks noChangeAspect="1"/>
          </p:cNvPicPr>
          <p:nvPr/>
        </p:nvPicPr>
        <p:blipFill>
          <a:blip r:embed="rId3"/>
          <a:srcRect l="0" r="0" t="0" b="0"/>
          <a:stretch/>
        </p:blipFill>
        <p:spPr>
          <a:xfrm>
            <a:off x="4806950" y="1859211"/>
            <a:ext cx="228600" cy="228600"/>
          </a:xfrm>
          <a:prstGeom prst="rect">
            <a:avLst/>
          </a:prstGeom>
        </p:spPr>
      </p:pic>
      <p:sp>
        <p:nvSpPr>
          <p:cNvPr id="14" name="Text 9"/>
          <p:cNvSpPr/>
          <p:nvPr/>
        </p:nvSpPr>
        <p:spPr>
          <a:xfrm>
            <a:off x="5276850" y="1729680"/>
            <a:ext cx="2302256" cy="51306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6262A"/>
                </a:solidFill>
                <a:latin typeface="Libre Baskerville" pitchFamily="18" charset="0"/>
                <a:ea typeface="Libre Baskerville" pitchFamily="18" charset="-122"/>
                <a:cs typeface="Libre Baskerville" pitchFamily="18" charset="-120"/>
              </a:rPr>
              <a:t>Python / Pandas Processing</a:t>
            </a:r>
            <a:endParaRPr lang="en-US" sz="1600" dirty="0"/>
          </a:p>
        </p:txBody>
      </p:sp>
      <p:sp>
        <p:nvSpPr>
          <p:cNvPr id="15" name="Text 10"/>
          <p:cNvSpPr/>
          <p:nvPr/>
        </p:nvSpPr>
        <p:spPr>
          <a:xfrm>
            <a:off x="4692650" y="2318941"/>
            <a:ext cx="2903982"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A50"/>
                </a:solidFill>
                <a:latin typeface="Public Sans" pitchFamily="34" charset="0"/>
                <a:ea typeface="Public Sans" pitchFamily="34" charset="-122"/>
                <a:cs typeface="Public Sans" pitchFamily="34" charset="-120"/>
              </a:rPr>
              <a:t>Data Cleaning</a:t>
            </a:r>
            <a:endParaRPr lang="en-US" sz="1400" dirty="0"/>
          </a:p>
          <a:p>
            <a:pPr algn="l" indent="0" marL="0">
              <a:lnSpc>
                <a:spcPts val="1890"/>
              </a:lnSpc>
              <a:buNone/>
            </a:pPr>
            <a:r>
              <a:rPr lang="en-US" sz="1400" dirty="0">
                <a:solidFill>
                  <a:srgbClr val="4A4A50"/>
                </a:solidFill>
                <a:latin typeface="Public Sans" pitchFamily="34" charset="0"/>
                <a:ea typeface="Public Sans" pitchFamily="34" charset="-122"/>
                <a:cs typeface="Public Sans" pitchFamily="34" charset="-120"/>
              </a:rPr>
              <a:t>O&amp;D Alignment</a:t>
            </a:r>
            <a:endParaRPr lang="en-US" sz="1400" dirty="0"/>
          </a:p>
          <a:p>
            <a:pPr algn="l" indent="0" marL="0">
              <a:lnSpc>
                <a:spcPts val="1890"/>
              </a:lnSpc>
              <a:buNone/>
            </a:pPr>
            <a:r>
              <a:rPr lang="en-US" sz="1400" dirty="0">
                <a:solidFill>
                  <a:srgbClr val="4A4A50"/>
                </a:solidFill>
                <a:latin typeface="Public Sans" pitchFamily="34" charset="0"/>
                <a:ea typeface="Public Sans" pitchFamily="34" charset="-122"/>
                <a:cs typeface="Public Sans" pitchFamily="34" charset="-120"/>
              </a:rPr>
              <a:t>HHI &amp; Market Share Computation</a:t>
            </a:r>
            <a:endParaRPr lang="en-US" sz="1400" dirty="0"/>
          </a:p>
        </p:txBody>
      </p:sp>
      <p:pic>
        <p:nvPicPr>
          <p:cNvPr id="16" name="Image 3" descr="arrow-right">    </p:cNvPr>
          <p:cNvPicPr>
            <a:picLocks noChangeAspect="1"/>
          </p:cNvPicPr>
          <p:nvPr/>
        </p:nvPicPr>
        <p:blipFill>
          <a:blip r:embed="rId4"/>
          <a:srcRect l="0" r="0" t="0" b="0"/>
          <a:stretch/>
        </p:blipFill>
        <p:spPr>
          <a:xfrm>
            <a:off x="7772400" y="2270026"/>
            <a:ext cx="355600" cy="228600"/>
          </a:xfrm>
          <a:prstGeom prst="rect">
            <a:avLst/>
          </a:prstGeom>
        </p:spPr>
      </p:pic>
      <p:sp>
        <p:nvSpPr>
          <p:cNvPr id="17" name="Shape 11"/>
          <p:cNvSpPr/>
          <p:nvPr/>
        </p:nvSpPr>
        <p:spPr>
          <a:xfrm>
            <a:off x="8204200" y="1545530"/>
            <a:ext cx="3175000" cy="1677591"/>
          </a:xfrm>
          <a:prstGeom prst="roundRect">
            <a:avLst>
              <a:gd name="adj" fmla="val 7570"/>
            </a:avLst>
          </a:prstGeom>
          <a:solidFill>
            <a:srgbClr val="26262A"/>
          </a:solidFill>
          <a:ln/>
        </p:spPr>
      </p:sp>
      <p:sp>
        <p:nvSpPr>
          <p:cNvPr id="18" name="Shape 12"/>
          <p:cNvSpPr/>
          <p:nvPr/>
        </p:nvSpPr>
        <p:spPr>
          <a:xfrm>
            <a:off x="8382000" y="1723330"/>
            <a:ext cx="457200" cy="457200"/>
          </a:xfrm>
          <a:prstGeom prst="roundRect">
            <a:avLst>
              <a:gd name="adj" fmla="val 50000"/>
            </a:avLst>
          </a:prstGeom>
          <a:solidFill>
            <a:srgbClr val="B3262E"/>
          </a:solidFill>
          <a:ln/>
        </p:spPr>
      </p:sp>
      <p:pic>
        <p:nvPicPr>
          <p:cNvPr id="19" name="Image 4" descr="Chart">    </p:cNvPr>
          <p:cNvPicPr>
            <a:picLocks noChangeAspect="1"/>
          </p:cNvPicPr>
          <p:nvPr/>
        </p:nvPicPr>
        <p:blipFill>
          <a:blip r:embed="rId5"/>
          <a:srcRect l="0" r="0" t="0" b="0"/>
          <a:stretch/>
        </p:blipFill>
        <p:spPr>
          <a:xfrm>
            <a:off x="8496300" y="1837630"/>
            <a:ext cx="228600" cy="228600"/>
          </a:xfrm>
          <a:prstGeom prst="rect">
            <a:avLst/>
          </a:prstGeom>
        </p:spPr>
      </p:pic>
      <p:sp>
        <p:nvSpPr>
          <p:cNvPr id="20" name="Text 13"/>
          <p:cNvSpPr/>
          <p:nvPr/>
        </p:nvSpPr>
        <p:spPr>
          <a:xfrm>
            <a:off x="8966200" y="1829991"/>
            <a:ext cx="229725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1EC"/>
                </a:solidFill>
                <a:latin typeface="Libre Baskerville" pitchFamily="18" charset="0"/>
                <a:ea typeface="Libre Baskerville" pitchFamily="18" charset="-122"/>
                <a:cs typeface="Libre Baskerville" pitchFamily="18" charset="-120"/>
              </a:rPr>
              <a:t>Analytical Output</a:t>
            </a:r>
            <a:endParaRPr lang="en-US" sz="1600" dirty="0"/>
          </a:p>
        </p:txBody>
      </p:sp>
      <p:sp>
        <p:nvSpPr>
          <p:cNvPr id="21" name="Text 14"/>
          <p:cNvSpPr/>
          <p:nvPr/>
        </p:nvSpPr>
        <p:spPr>
          <a:xfrm>
            <a:off x="8382000" y="2282130"/>
            <a:ext cx="2903982"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6D2C8"/>
                </a:solidFill>
                <a:latin typeface="Public Sans" pitchFamily="34" charset="0"/>
                <a:ea typeface="Public Sans" pitchFamily="34" charset="-122"/>
                <a:cs typeface="Public Sans" pitchFamily="34" charset="-120"/>
              </a:rPr>
              <a:t>Merged Panel Dataset</a:t>
            </a:r>
            <a:endParaRPr lang="en-US" sz="1400" dirty="0"/>
          </a:p>
          <a:p>
            <a:pPr algn="l" indent="0" marL="0">
              <a:lnSpc>
                <a:spcPts val="1890"/>
              </a:lnSpc>
              <a:buNone/>
            </a:pPr>
            <a:r>
              <a:rPr lang="en-US" sz="1400" dirty="0">
                <a:solidFill>
                  <a:srgbClr val="D6D2C8"/>
                </a:solidFill>
                <a:latin typeface="Public Sans" pitchFamily="34" charset="0"/>
                <a:ea typeface="Public Sans" pitchFamily="34" charset="-122"/>
                <a:cs typeface="Public Sans" pitchFamily="34" charset="-120"/>
              </a:rPr>
              <a:t>Regression / Price Premium Analysis</a:t>
            </a:r>
            <a:endParaRPr lang="en-US" sz="1400" dirty="0"/>
          </a:p>
        </p:txBody>
      </p:sp>
      <p:sp>
        <p:nvSpPr>
          <p:cNvPr id="22" name="Text 15"/>
          <p:cNvSpPr/>
          <p:nvPr/>
        </p:nvSpPr>
        <p:spPr>
          <a:xfrm>
            <a:off x="863600" y="3527921"/>
            <a:ext cx="341848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1F2B"/>
                </a:solidFill>
                <a:latin typeface="Public Sans" pitchFamily="34" charset="0"/>
                <a:ea typeface="Public Sans" pitchFamily="34" charset="-122"/>
                <a:cs typeface="Public Sans" pitchFamily="34" charset="-120"/>
              </a:rPr>
              <a:t>DATA SOURCING</a:t>
            </a:r>
            <a:endParaRPr lang="en-US" sz="1200" dirty="0"/>
          </a:p>
        </p:txBody>
      </p:sp>
      <p:sp>
        <p:nvSpPr>
          <p:cNvPr id="23" name="Text 16"/>
          <p:cNvSpPr/>
          <p:nvPr/>
        </p:nvSpPr>
        <p:spPr>
          <a:xfrm>
            <a:off x="961644" y="3817441"/>
            <a:ext cx="3312820" cy="718790"/>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4A4A50"/>
                </a:solidFill>
                <a:latin typeface="Public Sans" pitchFamily="34" charset="0"/>
                <a:ea typeface="Public Sans" pitchFamily="34" charset="-122"/>
                <a:cs typeface="Public Sans" pitchFamily="34" charset="-120"/>
              </a:rPr>
              <a:t>Dual ingestion</a:t>
            </a:r>
            <a:endParaRPr lang="en-US" sz="1300" dirty="0"/>
          </a:p>
          <a:p>
            <a:pPr algn="l" marL="155956" indent="-155956">
              <a:lnSpc>
                <a:spcPts val="1820"/>
              </a:lnSpc>
              <a:buSzPct val="100000"/>
              <a:buChar char="•"/>
            </a:pPr>
            <a:r>
              <a:rPr lang="en-US" sz="1300" dirty="0">
                <a:solidFill>
                  <a:srgbClr val="4A4A50"/>
                </a:solidFill>
                <a:latin typeface="Public Sans" pitchFamily="34" charset="0"/>
                <a:ea typeface="Public Sans" pitchFamily="34" charset="-122"/>
                <a:cs typeface="Public Sans" pitchFamily="34" charset="-120"/>
              </a:rPr>
              <a:t>DOT DB1B / BTS domestic airfares</a:t>
            </a:r>
            <a:endParaRPr lang="en-US" sz="1300" dirty="0"/>
          </a:p>
          <a:p>
            <a:pPr algn="l" marL="155956" indent="-155956">
              <a:lnSpc>
                <a:spcPts val="1820"/>
              </a:lnSpc>
              <a:buSzPct val="100000"/>
              <a:buChar char="•"/>
            </a:pPr>
            <a:r>
              <a:rPr lang="en-US" sz="1300" dirty="0">
                <a:solidFill>
                  <a:srgbClr val="4A4A50"/>
                </a:solidFill>
                <a:latin typeface="Public Sans" pitchFamily="34" charset="0"/>
                <a:ea typeface="Public Sans" pitchFamily="34" charset="-122"/>
                <a:cs typeface="Public Sans" pitchFamily="34" charset="-120"/>
              </a:rPr>
              <a:t>EIA jet fuel spot price benchmarks</a:t>
            </a:r>
            <a:endParaRPr lang="en-US" sz="1300" dirty="0"/>
          </a:p>
        </p:txBody>
      </p:sp>
      <p:sp>
        <p:nvSpPr>
          <p:cNvPr id="24" name="Text 17"/>
          <p:cNvSpPr/>
          <p:nvPr/>
        </p:nvSpPr>
        <p:spPr>
          <a:xfrm>
            <a:off x="4385717" y="3527921"/>
            <a:ext cx="341853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1F2B"/>
                </a:solidFill>
                <a:latin typeface="Public Sans" pitchFamily="34" charset="0"/>
                <a:ea typeface="Public Sans" pitchFamily="34" charset="-122"/>
                <a:cs typeface="Public Sans" pitchFamily="34" charset="-120"/>
              </a:rPr>
              <a:t>TRANSFORMATION &amp; MERGING</a:t>
            </a:r>
            <a:endParaRPr lang="en-US" sz="1200" dirty="0"/>
          </a:p>
        </p:txBody>
      </p:sp>
      <p:sp>
        <p:nvSpPr>
          <p:cNvPr id="25" name="Text 18"/>
          <p:cNvSpPr/>
          <p:nvPr/>
        </p:nvSpPr>
        <p:spPr>
          <a:xfrm>
            <a:off x="4483761" y="3817441"/>
            <a:ext cx="3312871" cy="718790"/>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4A4A50"/>
                </a:solidFill>
                <a:latin typeface="Public Sans" pitchFamily="34" charset="0"/>
                <a:ea typeface="Public Sans" pitchFamily="34" charset="-122"/>
                <a:cs typeface="Public Sans" pitchFamily="34" charset="-120"/>
              </a:rPr>
              <a:t>Cleaned multi-carrier itineraries</a:t>
            </a:r>
            <a:endParaRPr lang="en-US" sz="1300" dirty="0"/>
          </a:p>
          <a:p>
            <a:pPr algn="l" marL="155956" indent="-155956">
              <a:lnSpc>
                <a:spcPts val="1820"/>
              </a:lnSpc>
              <a:buSzPct val="100000"/>
              <a:buChar char="•"/>
            </a:pPr>
            <a:r>
              <a:rPr lang="en-US" sz="1300" dirty="0">
                <a:solidFill>
                  <a:srgbClr val="4A4A50"/>
                </a:solidFill>
                <a:latin typeface="Public Sans" pitchFamily="34" charset="0"/>
                <a:ea typeface="Public Sans" pitchFamily="34" charset="-122"/>
                <a:cs typeface="Public Sans" pitchFamily="34" charset="-120"/>
              </a:rPr>
              <a:t>Standardized O&amp;D airport pairs</a:t>
            </a:r>
            <a:endParaRPr lang="en-US" sz="1300" dirty="0"/>
          </a:p>
          <a:p>
            <a:pPr algn="l" marL="155956" indent="-155956">
              <a:lnSpc>
                <a:spcPts val="1820"/>
              </a:lnSpc>
              <a:buSzPct val="100000"/>
              <a:buChar char="•"/>
            </a:pPr>
            <a:r>
              <a:rPr lang="en-US" sz="1300" dirty="0">
                <a:solidFill>
                  <a:srgbClr val="4A4A50"/>
                </a:solidFill>
                <a:latin typeface="Public Sans" pitchFamily="34" charset="0"/>
                <a:ea typeface="Public Sans" pitchFamily="34" charset="-122"/>
                <a:cs typeface="Public Sans" pitchFamily="34" charset="-120"/>
              </a:rPr>
              <a:t>Aligned fuel prices with ticket timelines</a:t>
            </a:r>
            <a:endParaRPr lang="en-US" sz="1300" dirty="0"/>
          </a:p>
        </p:txBody>
      </p:sp>
      <p:sp>
        <p:nvSpPr>
          <p:cNvPr id="26" name="Text 19"/>
          <p:cNvSpPr/>
          <p:nvPr/>
        </p:nvSpPr>
        <p:spPr>
          <a:xfrm>
            <a:off x="7907883" y="3527921"/>
            <a:ext cx="341848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1F2B"/>
                </a:solidFill>
                <a:latin typeface="Public Sans" pitchFamily="34" charset="0"/>
                <a:ea typeface="Public Sans" pitchFamily="34" charset="-122"/>
                <a:cs typeface="Public Sans" pitchFamily="34" charset="-120"/>
              </a:rPr>
              <a:t>FEATURE CONSTRUCTION</a:t>
            </a:r>
            <a:endParaRPr lang="en-US" sz="1200" dirty="0"/>
          </a:p>
        </p:txBody>
      </p:sp>
      <p:sp>
        <p:nvSpPr>
          <p:cNvPr id="27" name="Text 20"/>
          <p:cNvSpPr/>
          <p:nvPr/>
        </p:nvSpPr>
        <p:spPr>
          <a:xfrm>
            <a:off x="8005927" y="3817441"/>
            <a:ext cx="3312820" cy="718790"/>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4A4A50"/>
                </a:solidFill>
                <a:latin typeface="Public Sans" pitchFamily="34" charset="0"/>
                <a:ea typeface="Public Sans" pitchFamily="34" charset="-122"/>
                <a:cs typeface="Public Sans" pitchFamily="34" charset="-120"/>
              </a:rPr>
              <a:t>Route-level carrier concentration (HHI)</a:t>
            </a:r>
            <a:endParaRPr lang="en-US" sz="1300" dirty="0"/>
          </a:p>
          <a:p>
            <a:pPr algn="l" marL="155956" indent="-155956">
              <a:lnSpc>
                <a:spcPts val="1820"/>
              </a:lnSpc>
              <a:buSzPct val="100000"/>
              <a:buChar char="•"/>
            </a:pPr>
            <a:r>
              <a:rPr lang="en-US" sz="1300" dirty="0">
                <a:solidFill>
                  <a:srgbClr val="4A4A50"/>
                </a:solidFill>
                <a:latin typeface="Public Sans" pitchFamily="34" charset="0"/>
                <a:ea typeface="Public Sans" pitchFamily="34" charset="-122"/>
                <a:cs typeface="Public Sans" pitchFamily="34" charset="-120"/>
              </a:rPr>
              <a:t>Fuel cost-to-fare ratios</a:t>
            </a:r>
            <a:endParaRPr lang="en-US" sz="1300" dirty="0"/>
          </a:p>
          <a:p>
            <a:pPr algn="l" marL="155956" indent="-155956">
              <a:lnSpc>
                <a:spcPts val="1820"/>
              </a:lnSpc>
              <a:buSzPct val="100000"/>
              <a:buChar char="•"/>
            </a:pPr>
            <a:r>
              <a:rPr lang="en-US" sz="1300" dirty="0">
                <a:solidFill>
                  <a:srgbClr val="4A4A50"/>
                </a:solidFill>
                <a:latin typeface="Public Sans" pitchFamily="34" charset="0"/>
                <a:ea typeface="Public Sans" pitchFamily="34" charset="-122"/>
                <a:cs typeface="Public Sans" pitchFamily="34" charset="-120"/>
              </a:rPr>
              <a:t>Competitive vs. hub-dominated routes</a:t>
            </a:r>
            <a:endParaRPr lang="en-US" sz="1300" dirty="0"/>
          </a:p>
        </p:txBody>
      </p:sp>
      <p:sp>
        <p:nvSpPr>
          <p:cNvPr id="28"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B6B70"/>
                </a:solidFill>
                <a:latin typeface="Public Sans" pitchFamily="34" charset="0"/>
                <a:ea typeface="Public Sans" pitchFamily="34" charset="-122"/>
                <a:cs typeface="Public Sans" pitchFamily="34" charset="-120"/>
              </a:rPr>
              <a:t>Sources: DOT DB1B/BTS · EIA jet fuel spot prices · 2022 Q1–2026 Q1</a:t>
            </a:r>
            <a:endParaRPr lang="en-US" sz="1200" dirty="0"/>
          </a:p>
        </p:txBody>
      </p:sp>
      <p:sp>
        <p:nvSpPr>
          <p:cNvPr id="29"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7A1F2B"/>
                </a:solidFill>
                <a:latin typeface="Public Sans" pitchFamily="34" charset="0"/>
                <a:ea typeface="Public Sans" pitchFamily="34" charset="-122"/>
                <a:cs typeface="Public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1EC"/>
        </a:solidFill>
      </p:bgPr>
    </p:bg>
    <p:spTree>
      <p:nvGrpSpPr>
        <p:cNvPr id="1" name=""/>
        <p:cNvGrpSpPr/>
        <p:nvPr/>
      </p:nvGrpSpPr>
      <p:grpSpPr>
        <a:xfrm>
          <a:off x="0" y="0"/>
          <a:ext cx="0" cy="0"/>
          <a:chOff x="0" y="0"/>
          <a:chExt cx="0" cy="0"/>
        </a:xfrm>
      </p:grpSpPr>
      <p:sp>
        <p:nvSpPr>
          <p:cNvPr id="2" name="Shape 0"/>
          <p:cNvSpPr/>
          <p:nvPr/>
        </p:nvSpPr>
        <p:spPr>
          <a:xfrm>
            <a:off x="812800" y="697210"/>
            <a:ext cx="304800" cy="38100"/>
          </a:xfrm>
          <a:prstGeom prst="rect">
            <a:avLst/>
          </a:prstGeom>
          <a:solidFill>
            <a:srgbClr val="7A1F2B"/>
          </a:solidFill>
          <a:ln/>
        </p:spPr>
      </p:sp>
      <p:sp>
        <p:nvSpPr>
          <p:cNvPr id="3" name="Text 1"/>
          <p:cNvSpPr/>
          <p:nvPr/>
        </p:nvSpPr>
        <p:spPr>
          <a:xfrm>
            <a:off x="1219200" y="609600"/>
            <a:ext cx="1676221"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1F2B"/>
                </a:solidFill>
                <a:latin typeface="Public Sans" pitchFamily="34" charset="0"/>
                <a:ea typeface="Public Sans" pitchFamily="34" charset="-122"/>
                <a:cs typeface="Public Sans" pitchFamily="34" charset="-120"/>
              </a:rPr>
              <a:t>FINDING 1 OF 3</a:t>
            </a:r>
            <a:endParaRPr lang="en-US" sz="1200" dirty="0"/>
          </a:p>
        </p:txBody>
      </p:sp>
      <p:sp>
        <p:nvSpPr>
          <p:cNvPr id="4" name="Text 2"/>
          <p:cNvSpPr/>
          <p:nvPr>
            <p:ph type="title"/>
          </p:nvPr>
        </p:nvSpPr>
        <p:spPr>
          <a:xfrm>
            <a:off x="812800" y="91182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26262A"/>
                </a:solidFill>
                <a:latin typeface="Libre Baskerville" pitchFamily="18" charset="0"/>
                <a:ea typeface="Libre Baskerville" pitchFamily="18" charset="-122"/>
                <a:cs typeface="Libre Baskerville" pitchFamily="18" charset="-120"/>
              </a:rPr>
              <a:t>KEY FINDING 1: ROUTE CONCENTRATION MARKUPS</a:t>
            </a:r>
            <a:endParaRPr lang="en-US" sz="2600" dirty="0"/>
          </a:p>
        </p:txBody>
      </p:sp>
      <p:sp>
        <p:nvSpPr>
          <p:cNvPr id="5" name="Shape 3"/>
          <p:cNvSpPr/>
          <p:nvPr/>
        </p:nvSpPr>
        <p:spPr>
          <a:xfrm>
            <a:off x="812800" y="1869430"/>
            <a:ext cx="6096000" cy="3346450"/>
          </a:xfrm>
          <a:prstGeom prst="roundRect">
            <a:avLst>
              <a:gd name="adj" fmla="val 2277"/>
            </a:avLst>
          </a:prstGeom>
          <a:solidFill>
            <a:srgbClr val="FFFFFF"/>
          </a:solidFill>
          <a:ln/>
        </p:spPr>
      </p:sp>
      <p:pic>
        <p:nvPicPr>
          <p:cNvPr id="6" name="Image 0" descr="Box plot of fare yield in cents per non-stop mile for monopoly or near-monopoly routes versus highly concentrated routes">    </p:cNvPr>
          <p:cNvPicPr>
            <a:picLocks noChangeAspect="1"/>
          </p:cNvPicPr>
          <p:nvPr/>
        </p:nvPicPr>
        <p:blipFill>
          <a:blip r:embed="rId1"/>
          <a:srcRect l="-44" r="-44" t="0" b="0"/>
          <a:stretch/>
        </p:blipFill>
        <p:spPr>
          <a:xfrm>
            <a:off x="819150" y="1875780"/>
            <a:ext cx="6083300" cy="3333750"/>
          </a:xfrm>
          <a:prstGeom prst="roundRect">
            <a:avLst>
              <a:gd name="adj" fmla="val 2095"/>
            </a:avLst>
          </a:prstGeom>
        </p:spPr>
      </p:pic>
      <p:sp>
        <p:nvSpPr>
          <p:cNvPr id="7" name="Shape 4"/>
          <p:cNvSpPr/>
          <p:nvPr/>
        </p:nvSpPr>
        <p:spPr>
          <a:xfrm>
            <a:off x="815975" y="1872605"/>
            <a:ext cx="6089650" cy="3340100"/>
          </a:xfrm>
          <a:prstGeom prst="roundRect">
            <a:avLst>
              <a:gd name="adj" fmla="val 2186"/>
            </a:avLst>
          </a:prstGeom>
          <a:noFill/>
          <a:ln w="6350">
            <a:solidFill>
              <a:srgbClr val="DDD8CE"/>
            </a:solidFill>
            <a:prstDash val="solid"/>
          </a:ln>
        </p:spPr>
      </p:sp>
      <p:sp>
        <p:nvSpPr>
          <p:cNvPr id="8" name="Text 5"/>
          <p:cNvSpPr/>
          <p:nvPr/>
        </p:nvSpPr>
        <p:spPr>
          <a:xfrm>
            <a:off x="812800" y="5304780"/>
            <a:ext cx="62788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70"/>
                </a:solidFill>
                <a:latin typeface="Public Sans" pitchFamily="34" charset="0"/>
                <a:ea typeface="Public Sans" pitchFamily="34" charset="-122"/>
                <a:cs typeface="Public Sans" pitchFamily="34" charset="-120"/>
              </a:rPr>
              <a:t>Fare yield (¢ per non-stop mile) by market regime</a:t>
            </a:r>
            <a:endParaRPr lang="en-US" sz="1200" dirty="0"/>
          </a:p>
        </p:txBody>
      </p:sp>
      <p:sp>
        <p:nvSpPr>
          <p:cNvPr id="9" name="Shape 6"/>
          <p:cNvSpPr/>
          <p:nvPr/>
        </p:nvSpPr>
        <p:spPr>
          <a:xfrm>
            <a:off x="7213600" y="2247454"/>
            <a:ext cx="406400" cy="406400"/>
          </a:xfrm>
          <a:prstGeom prst="roundRect">
            <a:avLst>
              <a:gd name="adj" fmla="val 50000"/>
            </a:avLst>
          </a:prstGeom>
          <a:solidFill>
            <a:srgbClr val="7A1F2B"/>
          </a:solidFill>
          <a:ln/>
        </p:spPr>
      </p:sp>
      <p:pic>
        <p:nvPicPr>
          <p:cNvPr id="10" name="Image 1" descr="Lock">    </p:cNvPr>
          <p:cNvPicPr>
            <a:picLocks noChangeAspect="1"/>
          </p:cNvPicPr>
          <p:nvPr/>
        </p:nvPicPr>
        <p:blipFill>
          <a:blip r:embed="rId2"/>
          <a:srcRect l="0" r="0" t="0" b="0"/>
          <a:stretch/>
        </p:blipFill>
        <p:spPr>
          <a:xfrm>
            <a:off x="7315200" y="2349054"/>
            <a:ext cx="203200" cy="203200"/>
          </a:xfrm>
          <a:prstGeom prst="rect">
            <a:avLst/>
          </a:prstGeom>
        </p:spPr>
      </p:pic>
      <p:sp>
        <p:nvSpPr>
          <p:cNvPr id="11" name="Text 7"/>
          <p:cNvSpPr/>
          <p:nvPr/>
        </p:nvSpPr>
        <p:spPr>
          <a:xfrm>
            <a:off x="7747000" y="2247454"/>
            <a:ext cx="374116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6262A"/>
                </a:solidFill>
                <a:latin typeface="Libre Baskerville" pitchFamily="18" charset="0"/>
                <a:ea typeface="Libre Baskerville" pitchFamily="18" charset="-122"/>
                <a:cs typeface="Libre Baskerville" pitchFamily="18" charset="-120"/>
              </a:rPr>
              <a:t>Monopoly Route Premiums</a:t>
            </a:r>
            <a:endParaRPr lang="en-US" sz="1400" dirty="0"/>
          </a:p>
        </p:txBody>
      </p:sp>
      <p:sp>
        <p:nvSpPr>
          <p:cNvPr id="12" name="Text 8"/>
          <p:cNvSpPr/>
          <p:nvPr/>
        </p:nvSpPr>
        <p:spPr>
          <a:xfrm>
            <a:off x="7747000" y="2498874"/>
            <a:ext cx="3741166"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50"/>
                </a:solidFill>
                <a:latin typeface="Public Sans" pitchFamily="34" charset="0"/>
                <a:ea typeface="Public Sans" pitchFamily="34" charset="-122"/>
                <a:cs typeface="Public Sans" pitchFamily="34" charset="-120"/>
              </a:rPr>
              <a:t>Single-carrier routes: higher median fares and heavy upper-quartile outliers vs. competitive corridors</a:t>
            </a:r>
            <a:endParaRPr lang="en-US" sz="1300" dirty="0"/>
          </a:p>
        </p:txBody>
      </p:sp>
      <p:sp>
        <p:nvSpPr>
          <p:cNvPr id="13" name="Shape 9"/>
          <p:cNvSpPr/>
          <p:nvPr/>
        </p:nvSpPr>
        <p:spPr>
          <a:xfrm>
            <a:off x="7213600" y="3345210"/>
            <a:ext cx="406400" cy="406400"/>
          </a:xfrm>
          <a:prstGeom prst="roundRect">
            <a:avLst>
              <a:gd name="adj" fmla="val 50000"/>
            </a:avLst>
          </a:prstGeom>
          <a:solidFill>
            <a:srgbClr val="7A1F2B"/>
          </a:solidFill>
          <a:ln/>
        </p:spPr>
      </p:sp>
      <p:pic>
        <p:nvPicPr>
          <p:cNvPr id="14" name="Image 2" descr="Activity">    </p:cNvPr>
          <p:cNvPicPr>
            <a:picLocks noChangeAspect="1"/>
          </p:cNvPicPr>
          <p:nvPr/>
        </p:nvPicPr>
        <p:blipFill>
          <a:blip r:embed="rId3"/>
          <a:srcRect l="0" r="0" t="0" b="0"/>
          <a:stretch/>
        </p:blipFill>
        <p:spPr>
          <a:xfrm>
            <a:off x="7315200" y="3446810"/>
            <a:ext cx="203200" cy="203200"/>
          </a:xfrm>
          <a:prstGeom prst="rect">
            <a:avLst/>
          </a:prstGeom>
        </p:spPr>
      </p:pic>
      <p:sp>
        <p:nvSpPr>
          <p:cNvPr id="15" name="Text 10"/>
          <p:cNvSpPr/>
          <p:nvPr/>
        </p:nvSpPr>
        <p:spPr>
          <a:xfrm>
            <a:off x="7747000" y="3345210"/>
            <a:ext cx="374116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6262A"/>
                </a:solidFill>
                <a:latin typeface="Libre Baskerville" pitchFamily="18" charset="0"/>
                <a:ea typeface="Libre Baskerville" pitchFamily="18" charset="-122"/>
                <a:cs typeface="Libre Baskerville" pitchFamily="18" charset="-120"/>
              </a:rPr>
              <a:t>Progressive Margin Compression</a:t>
            </a:r>
            <a:endParaRPr lang="en-US" sz="1400" dirty="0"/>
          </a:p>
        </p:txBody>
      </p:sp>
      <p:sp>
        <p:nvSpPr>
          <p:cNvPr id="16" name="Text 11"/>
          <p:cNvSpPr/>
          <p:nvPr/>
        </p:nvSpPr>
        <p:spPr>
          <a:xfrm>
            <a:off x="7747000" y="3596630"/>
            <a:ext cx="374116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50"/>
                </a:solidFill>
                <a:latin typeface="Public Sans" pitchFamily="34" charset="0"/>
                <a:ea typeface="Public Sans" pitchFamily="34" charset="-122"/>
                <a:cs typeface="Public Sans" pitchFamily="34" charset="-120"/>
              </a:rPr>
              <a:t>Median fares step down from duopolies to competitive multi-carrier routes (HHI &lt; 2,500)</a:t>
            </a:r>
            <a:endParaRPr lang="en-US" sz="1300" dirty="0"/>
          </a:p>
        </p:txBody>
      </p:sp>
      <p:sp>
        <p:nvSpPr>
          <p:cNvPr id="17" name="Shape 12"/>
          <p:cNvSpPr/>
          <p:nvPr/>
        </p:nvSpPr>
        <p:spPr>
          <a:xfrm>
            <a:off x="7213600" y="4220121"/>
            <a:ext cx="406400" cy="406400"/>
          </a:xfrm>
          <a:prstGeom prst="roundRect">
            <a:avLst>
              <a:gd name="adj" fmla="val 50000"/>
            </a:avLst>
          </a:prstGeom>
          <a:solidFill>
            <a:srgbClr val="7A1F2B"/>
          </a:solidFill>
          <a:ln/>
        </p:spPr>
      </p:sp>
      <p:pic>
        <p:nvPicPr>
          <p:cNvPr id="18" name="Image 3" descr="Settings">    </p:cNvPr>
          <p:cNvPicPr>
            <a:picLocks noChangeAspect="1"/>
          </p:cNvPicPr>
          <p:nvPr/>
        </p:nvPicPr>
        <p:blipFill>
          <a:blip r:embed="rId4"/>
          <a:srcRect l="0" r="0" t="0" b="0"/>
          <a:stretch/>
        </p:blipFill>
        <p:spPr>
          <a:xfrm>
            <a:off x="7315200" y="4321721"/>
            <a:ext cx="203200" cy="203200"/>
          </a:xfrm>
          <a:prstGeom prst="rect">
            <a:avLst/>
          </a:prstGeom>
        </p:spPr>
      </p:pic>
      <p:sp>
        <p:nvSpPr>
          <p:cNvPr id="19" name="Text 13"/>
          <p:cNvSpPr/>
          <p:nvPr/>
        </p:nvSpPr>
        <p:spPr>
          <a:xfrm>
            <a:off x="7747000" y="4220121"/>
            <a:ext cx="374116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6262A"/>
                </a:solidFill>
                <a:latin typeface="Libre Baskerville" pitchFamily="18" charset="0"/>
                <a:ea typeface="Libre Baskerville" pitchFamily="18" charset="-122"/>
                <a:cs typeface="Libre Baskerville" pitchFamily="18" charset="-120"/>
              </a:rPr>
              <a:t>Distribution Skew</a:t>
            </a:r>
            <a:endParaRPr lang="en-US" sz="1400" dirty="0"/>
          </a:p>
        </p:txBody>
      </p:sp>
      <p:sp>
        <p:nvSpPr>
          <p:cNvPr id="20" name="Text 14"/>
          <p:cNvSpPr/>
          <p:nvPr/>
        </p:nvSpPr>
        <p:spPr>
          <a:xfrm>
            <a:off x="7747000" y="4471541"/>
            <a:ext cx="3741166"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50"/>
                </a:solidFill>
                <a:latin typeface="Public Sans" pitchFamily="34" charset="0"/>
                <a:ea typeface="Public Sans" pitchFamily="34" charset="-122"/>
                <a:cs typeface="Public Sans" pitchFamily="34" charset="-120"/>
              </a:rPr>
              <a:t>Wider IQR on monopoly and dominant-hub routes: carrier price-setting discretion and inelastic demand extraction</a:t>
            </a:r>
            <a:endParaRPr lang="en-US" sz="1300" dirty="0"/>
          </a:p>
        </p:txBody>
      </p:sp>
      <p:sp>
        <p:nvSpPr>
          <p:cNvPr id="21" name="Text 1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B6B70"/>
                </a:solidFill>
                <a:latin typeface="Public Sans" pitchFamily="34" charset="0"/>
                <a:ea typeface="Public Sans" pitchFamily="34" charset="-122"/>
                <a:cs typeface="Public Sans" pitchFamily="34" charset="-120"/>
              </a:rPr>
              <a:t>Quantifying the Airline “Monopoly Tax” · MIST 6380</a:t>
            </a:r>
            <a:endParaRPr lang="en-US" sz="1200" dirty="0"/>
          </a:p>
        </p:txBody>
      </p:sp>
      <p:sp>
        <p:nvSpPr>
          <p:cNvPr id="22"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7A1F2B"/>
                </a:solidFill>
                <a:latin typeface="Public Sans" pitchFamily="34" charset="0"/>
                <a:ea typeface="Public Sans" pitchFamily="34" charset="-122"/>
                <a:cs typeface="Public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1EC"/>
        </a:solidFill>
      </p:bgPr>
    </p:bg>
    <p:spTree>
      <p:nvGrpSpPr>
        <p:cNvPr id="1" name=""/>
        <p:cNvGrpSpPr/>
        <p:nvPr/>
      </p:nvGrpSpPr>
      <p:grpSpPr>
        <a:xfrm>
          <a:off x="0" y="0"/>
          <a:ext cx="0" cy="0"/>
          <a:chOff x="0" y="0"/>
          <a:chExt cx="0" cy="0"/>
        </a:xfrm>
      </p:grpSpPr>
      <p:sp>
        <p:nvSpPr>
          <p:cNvPr id="2" name="Shape 0"/>
          <p:cNvSpPr/>
          <p:nvPr/>
        </p:nvSpPr>
        <p:spPr>
          <a:xfrm>
            <a:off x="812800" y="697210"/>
            <a:ext cx="304800" cy="38100"/>
          </a:xfrm>
          <a:prstGeom prst="rect">
            <a:avLst/>
          </a:prstGeom>
          <a:solidFill>
            <a:srgbClr val="7A1F2B"/>
          </a:solidFill>
          <a:ln/>
        </p:spPr>
      </p:sp>
      <p:sp>
        <p:nvSpPr>
          <p:cNvPr id="3" name="Text 1"/>
          <p:cNvSpPr/>
          <p:nvPr/>
        </p:nvSpPr>
        <p:spPr>
          <a:xfrm>
            <a:off x="1219200" y="609600"/>
            <a:ext cx="171402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1F2B"/>
                </a:solidFill>
                <a:latin typeface="Public Sans" pitchFamily="34" charset="0"/>
                <a:ea typeface="Public Sans" pitchFamily="34" charset="-122"/>
                <a:cs typeface="Public Sans" pitchFamily="34" charset="-120"/>
              </a:rPr>
              <a:t>FINDING 2 OF 3</a:t>
            </a:r>
            <a:endParaRPr lang="en-US" sz="1200" dirty="0"/>
          </a:p>
        </p:txBody>
      </p:sp>
      <p:sp>
        <p:nvSpPr>
          <p:cNvPr id="4" name="Text 2"/>
          <p:cNvSpPr/>
          <p:nvPr>
            <p:ph type="title"/>
          </p:nvPr>
        </p:nvSpPr>
        <p:spPr>
          <a:xfrm>
            <a:off x="812800" y="911820"/>
            <a:ext cx="10883392" cy="78482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26262A"/>
                </a:solidFill>
                <a:latin typeface="Libre Baskerville" pitchFamily="18" charset="0"/>
                <a:ea typeface="Libre Baskerville" pitchFamily="18" charset="-122"/>
                <a:cs typeface="Libre Baskerville" pitchFamily="18" charset="-120"/>
              </a:rPr>
              <a:t>KEY FINDING #2 — COST PASS-THROUGH &amp; FUEL PRICE DECOUPLING</a:t>
            </a:r>
            <a:endParaRPr lang="en-US" sz="2600" dirty="0"/>
          </a:p>
        </p:txBody>
      </p:sp>
      <p:sp>
        <p:nvSpPr>
          <p:cNvPr id="5" name="Shape 3"/>
          <p:cNvSpPr/>
          <p:nvPr/>
        </p:nvSpPr>
        <p:spPr>
          <a:xfrm>
            <a:off x="812800" y="2081510"/>
            <a:ext cx="6350000" cy="3302000"/>
          </a:xfrm>
          <a:prstGeom prst="roundRect">
            <a:avLst>
              <a:gd name="adj" fmla="val 2308"/>
            </a:avLst>
          </a:prstGeom>
          <a:solidFill>
            <a:srgbClr val="FFFFFF"/>
          </a:solidFill>
          <a:ln/>
        </p:spPr>
      </p:sp>
      <p:pic>
        <p:nvPicPr>
          <p:cNvPr id="6" name="Image 0" descr="Line chart of fare yield for highly concentrated and monopoly routes against Gulf Coast jet fuel spot price by quarter">    </p:cNvPr>
          <p:cNvPicPr>
            <a:picLocks noChangeAspect="1"/>
          </p:cNvPicPr>
          <p:nvPr/>
        </p:nvPicPr>
        <p:blipFill>
          <a:blip r:embed="rId1"/>
          <a:srcRect l="-74" r="-74" t="0" b="0"/>
          <a:stretch/>
        </p:blipFill>
        <p:spPr>
          <a:xfrm>
            <a:off x="819150" y="2087860"/>
            <a:ext cx="6337300" cy="3289300"/>
          </a:xfrm>
          <a:prstGeom prst="roundRect">
            <a:avLst>
              <a:gd name="adj" fmla="val 2124"/>
            </a:avLst>
          </a:prstGeom>
        </p:spPr>
      </p:pic>
      <p:sp>
        <p:nvSpPr>
          <p:cNvPr id="7" name="Shape 4"/>
          <p:cNvSpPr/>
          <p:nvPr/>
        </p:nvSpPr>
        <p:spPr>
          <a:xfrm>
            <a:off x="815975" y="2084685"/>
            <a:ext cx="6343650" cy="3295650"/>
          </a:xfrm>
          <a:prstGeom prst="roundRect">
            <a:avLst>
              <a:gd name="adj" fmla="val 2216"/>
            </a:avLst>
          </a:prstGeom>
          <a:noFill/>
          <a:ln w="6350">
            <a:solidFill>
              <a:srgbClr val="DDD8CE"/>
            </a:solidFill>
            <a:prstDash val="solid"/>
          </a:ln>
        </p:spPr>
      </p:sp>
      <p:sp>
        <p:nvSpPr>
          <p:cNvPr id="8" name="Text 5"/>
          <p:cNvSpPr/>
          <p:nvPr/>
        </p:nvSpPr>
        <p:spPr>
          <a:xfrm>
            <a:off x="812800" y="547241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70"/>
                </a:solidFill>
                <a:latin typeface="Public Sans" pitchFamily="34" charset="0"/>
                <a:ea typeface="Public Sans" pitchFamily="34" charset="-122"/>
                <a:cs typeface="Public Sans" pitchFamily="34" charset="-120"/>
              </a:rPr>
              <a:t>Fare yield vs. jet fuel spot price, by regime and quarter</a:t>
            </a:r>
            <a:endParaRPr lang="en-US" sz="1200" dirty="0"/>
          </a:p>
        </p:txBody>
      </p:sp>
      <p:sp>
        <p:nvSpPr>
          <p:cNvPr id="9" name="Shape 6"/>
          <p:cNvSpPr/>
          <p:nvPr/>
        </p:nvSpPr>
        <p:spPr>
          <a:xfrm>
            <a:off x="7467600" y="2330648"/>
            <a:ext cx="406400" cy="406400"/>
          </a:xfrm>
          <a:prstGeom prst="roundRect">
            <a:avLst>
              <a:gd name="adj" fmla="val 50000"/>
            </a:avLst>
          </a:prstGeom>
          <a:solidFill>
            <a:srgbClr val="7A1F2B"/>
          </a:solidFill>
          <a:ln/>
        </p:spPr>
      </p:sp>
      <p:pic>
        <p:nvPicPr>
          <p:cNvPr id="10" name="Image 1" descr="Lightning">    </p:cNvPr>
          <p:cNvPicPr>
            <a:picLocks noChangeAspect="1"/>
          </p:cNvPicPr>
          <p:nvPr/>
        </p:nvPicPr>
        <p:blipFill>
          <a:blip r:embed="rId2"/>
          <a:srcRect l="0" r="0" t="0" b="0"/>
          <a:stretch/>
        </p:blipFill>
        <p:spPr>
          <a:xfrm>
            <a:off x="7569200" y="2432248"/>
            <a:ext cx="203200" cy="203200"/>
          </a:xfrm>
          <a:prstGeom prst="rect">
            <a:avLst/>
          </a:prstGeom>
        </p:spPr>
      </p:pic>
      <p:sp>
        <p:nvSpPr>
          <p:cNvPr id="11" name="Text 7"/>
          <p:cNvSpPr/>
          <p:nvPr/>
        </p:nvSpPr>
        <p:spPr>
          <a:xfrm>
            <a:off x="8001000" y="2330648"/>
            <a:ext cx="347954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6262A"/>
                </a:solidFill>
                <a:latin typeface="Libre Baskerville" pitchFamily="18" charset="0"/>
                <a:ea typeface="Libre Baskerville" pitchFamily="18" charset="-122"/>
                <a:cs typeface="Libre Baskerville" pitchFamily="18" charset="-120"/>
              </a:rPr>
              <a:t>Fuel Elasticity</a:t>
            </a:r>
            <a:endParaRPr lang="en-US" sz="1400" dirty="0"/>
          </a:p>
        </p:txBody>
      </p:sp>
      <p:sp>
        <p:nvSpPr>
          <p:cNvPr id="12" name="Text 8"/>
          <p:cNvSpPr/>
          <p:nvPr/>
        </p:nvSpPr>
        <p:spPr>
          <a:xfrm>
            <a:off x="8001000" y="2582069"/>
            <a:ext cx="347954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50"/>
                </a:solidFill>
                <a:latin typeface="Public Sans" pitchFamily="34" charset="0"/>
                <a:ea typeface="Public Sans" pitchFamily="34" charset="-122"/>
                <a:cs typeface="Public Sans" pitchFamily="34" charset="-120"/>
              </a:rPr>
              <a:t>Competitive routes shadow kerosene spot swings: standard cost-to-price transmission</a:t>
            </a:r>
            <a:endParaRPr lang="en-US" sz="1300" dirty="0"/>
          </a:p>
        </p:txBody>
      </p:sp>
      <p:sp>
        <p:nvSpPr>
          <p:cNvPr id="13" name="Shape 9"/>
          <p:cNvSpPr/>
          <p:nvPr/>
        </p:nvSpPr>
        <p:spPr>
          <a:xfrm>
            <a:off x="7467600" y="3205559"/>
            <a:ext cx="406400" cy="406400"/>
          </a:xfrm>
          <a:prstGeom prst="roundRect">
            <a:avLst>
              <a:gd name="adj" fmla="val 50000"/>
            </a:avLst>
          </a:prstGeom>
          <a:solidFill>
            <a:srgbClr val="7A1F2B"/>
          </a:solidFill>
          <a:ln/>
        </p:spPr>
      </p:sp>
      <p:pic>
        <p:nvPicPr>
          <p:cNvPr id="14" name="Image 2" descr="Clock">    </p:cNvPr>
          <p:cNvPicPr>
            <a:picLocks noChangeAspect="1"/>
          </p:cNvPicPr>
          <p:nvPr/>
        </p:nvPicPr>
        <p:blipFill>
          <a:blip r:embed="rId3"/>
          <a:srcRect l="0" r="0" t="0" b="0"/>
          <a:stretch/>
        </p:blipFill>
        <p:spPr>
          <a:xfrm>
            <a:off x="7569200" y="3307159"/>
            <a:ext cx="203200" cy="203200"/>
          </a:xfrm>
          <a:prstGeom prst="rect">
            <a:avLst/>
          </a:prstGeom>
        </p:spPr>
      </p:pic>
      <p:sp>
        <p:nvSpPr>
          <p:cNvPr id="15" name="Text 10"/>
          <p:cNvSpPr/>
          <p:nvPr/>
        </p:nvSpPr>
        <p:spPr>
          <a:xfrm>
            <a:off x="8001000" y="3205559"/>
            <a:ext cx="3479546"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6262A"/>
                </a:solidFill>
                <a:latin typeface="Libre Baskerville" pitchFamily="18" charset="0"/>
                <a:ea typeface="Libre Baskerville" pitchFamily="18" charset="-122"/>
                <a:cs typeface="Libre Baskerville" pitchFamily="18" charset="-120"/>
              </a:rPr>
              <a:t>Asymmetric Pricing (Rockets &amp; Feathers)</a:t>
            </a:r>
            <a:endParaRPr lang="en-US" sz="1400" dirty="0"/>
          </a:p>
        </p:txBody>
      </p:sp>
      <p:sp>
        <p:nvSpPr>
          <p:cNvPr id="16" name="Text 11"/>
          <p:cNvSpPr/>
          <p:nvPr/>
        </p:nvSpPr>
        <p:spPr>
          <a:xfrm>
            <a:off x="8001000" y="3670300"/>
            <a:ext cx="3479546"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50"/>
                </a:solidFill>
                <a:latin typeface="Public Sans" pitchFamily="34" charset="0"/>
                <a:ea typeface="Public Sans" pitchFamily="34" charset="-122"/>
                <a:cs typeface="Public Sans" pitchFamily="34" charset="-120"/>
              </a:rPr>
              <a:t>Monopoly corridors: fuel spikes pass through fast and amplified, while fare drops lag fuel declines</a:t>
            </a:r>
            <a:endParaRPr lang="en-US" sz="1300" dirty="0"/>
          </a:p>
        </p:txBody>
      </p:sp>
      <p:sp>
        <p:nvSpPr>
          <p:cNvPr id="17" name="Shape 12"/>
          <p:cNvSpPr/>
          <p:nvPr/>
        </p:nvSpPr>
        <p:spPr>
          <a:xfrm>
            <a:off x="7467600" y="4516636"/>
            <a:ext cx="406400" cy="406400"/>
          </a:xfrm>
          <a:prstGeom prst="roundRect">
            <a:avLst>
              <a:gd name="adj" fmla="val 50000"/>
            </a:avLst>
          </a:prstGeom>
          <a:solidFill>
            <a:srgbClr val="7A1F2B"/>
          </a:solidFill>
          <a:ln/>
        </p:spPr>
      </p:sp>
      <p:pic>
        <p:nvPicPr>
          <p:cNvPr id="18" name="Image 3" descr="Chart">    </p:cNvPr>
          <p:cNvPicPr>
            <a:picLocks noChangeAspect="1"/>
          </p:cNvPicPr>
          <p:nvPr/>
        </p:nvPicPr>
        <p:blipFill>
          <a:blip r:embed="rId4"/>
          <a:srcRect l="0" r="0" t="0" b="0"/>
          <a:stretch/>
        </p:blipFill>
        <p:spPr>
          <a:xfrm>
            <a:off x="7569200" y="4618236"/>
            <a:ext cx="203200" cy="203200"/>
          </a:xfrm>
          <a:prstGeom prst="rect">
            <a:avLst/>
          </a:prstGeom>
        </p:spPr>
      </p:pic>
      <p:sp>
        <p:nvSpPr>
          <p:cNvPr id="19" name="Text 13"/>
          <p:cNvSpPr/>
          <p:nvPr/>
        </p:nvSpPr>
        <p:spPr>
          <a:xfrm>
            <a:off x="8001000" y="4516636"/>
            <a:ext cx="347954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6262A"/>
                </a:solidFill>
                <a:latin typeface="Libre Baskerville" pitchFamily="18" charset="0"/>
                <a:ea typeface="Libre Baskerville" pitchFamily="18" charset="-122"/>
                <a:cs typeface="Libre Baskerville" pitchFamily="18" charset="-120"/>
              </a:rPr>
              <a:t>Margin Expansion</a:t>
            </a:r>
            <a:endParaRPr lang="en-US" sz="1400" dirty="0"/>
          </a:p>
        </p:txBody>
      </p:sp>
      <p:sp>
        <p:nvSpPr>
          <p:cNvPr id="20" name="Text 14"/>
          <p:cNvSpPr/>
          <p:nvPr/>
        </p:nvSpPr>
        <p:spPr>
          <a:xfrm>
            <a:off x="8001000" y="4768056"/>
            <a:ext cx="3479546"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50"/>
                </a:solidFill>
                <a:latin typeface="Public Sans" pitchFamily="34" charset="0"/>
                <a:ea typeface="Public Sans" pitchFamily="34" charset="-122"/>
                <a:cs typeface="Public Sans" pitchFamily="34" charset="-120"/>
              </a:rPr>
              <a:t>After the 2022 Q2 fuel peak, prices fell but monopoly yields held near 48–54¢ per mile vs. 31–35¢ on highly concentrated routes</a:t>
            </a:r>
            <a:endParaRPr lang="en-US" sz="1300" dirty="0"/>
          </a:p>
        </p:txBody>
      </p:sp>
      <p:sp>
        <p:nvSpPr>
          <p:cNvPr id="21" name="Text 1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B6B70"/>
                </a:solidFill>
                <a:latin typeface="Public Sans" pitchFamily="34" charset="0"/>
                <a:ea typeface="Public Sans" pitchFamily="34" charset="-122"/>
                <a:cs typeface="Public Sans" pitchFamily="34" charset="-120"/>
              </a:rPr>
              <a:t>Quantifying the Airline “Monopoly Tax” · MIST 6380</a:t>
            </a:r>
            <a:endParaRPr lang="en-US" sz="1200" dirty="0"/>
          </a:p>
        </p:txBody>
      </p:sp>
      <p:sp>
        <p:nvSpPr>
          <p:cNvPr id="22"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7A1F2B"/>
                </a:solidFill>
                <a:latin typeface="Public Sans" pitchFamily="34" charset="0"/>
                <a:ea typeface="Public Sans" pitchFamily="34" charset="-122"/>
                <a:cs typeface="Public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1EC"/>
        </a:solidFill>
      </p:bgPr>
    </p:bg>
    <p:spTree>
      <p:nvGrpSpPr>
        <p:cNvPr id="1" name=""/>
        <p:cNvGrpSpPr/>
        <p:nvPr/>
      </p:nvGrpSpPr>
      <p:grpSpPr>
        <a:xfrm>
          <a:off x="0" y="0"/>
          <a:ext cx="0" cy="0"/>
          <a:chOff x="0" y="0"/>
          <a:chExt cx="0" cy="0"/>
        </a:xfrm>
      </p:grpSpPr>
      <p:sp>
        <p:nvSpPr>
          <p:cNvPr id="2" name="Shape 0"/>
          <p:cNvSpPr/>
          <p:nvPr/>
        </p:nvSpPr>
        <p:spPr>
          <a:xfrm>
            <a:off x="812800" y="697210"/>
            <a:ext cx="304800" cy="38100"/>
          </a:xfrm>
          <a:prstGeom prst="rect">
            <a:avLst/>
          </a:prstGeom>
          <a:solidFill>
            <a:srgbClr val="7A1F2B"/>
          </a:solidFill>
          <a:ln/>
        </p:spPr>
      </p:sp>
      <p:sp>
        <p:nvSpPr>
          <p:cNvPr id="3" name="Text 1"/>
          <p:cNvSpPr/>
          <p:nvPr/>
        </p:nvSpPr>
        <p:spPr>
          <a:xfrm>
            <a:off x="1219200" y="609600"/>
            <a:ext cx="1719501"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1F2B"/>
                </a:solidFill>
                <a:latin typeface="Public Sans" pitchFamily="34" charset="0"/>
                <a:ea typeface="Public Sans" pitchFamily="34" charset="-122"/>
                <a:cs typeface="Public Sans" pitchFamily="34" charset="-120"/>
              </a:rPr>
              <a:t>FINDING 3 OF 3</a:t>
            </a:r>
            <a:endParaRPr lang="en-US" sz="1200" dirty="0"/>
          </a:p>
        </p:txBody>
      </p:sp>
      <p:sp>
        <p:nvSpPr>
          <p:cNvPr id="4" name="Text 2"/>
          <p:cNvSpPr/>
          <p:nvPr>
            <p:ph type="title"/>
          </p:nvPr>
        </p:nvSpPr>
        <p:spPr>
          <a:xfrm>
            <a:off x="812800" y="911820"/>
            <a:ext cx="10883392" cy="78482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26262A"/>
                </a:solidFill>
                <a:latin typeface="Libre Baskerville" pitchFamily="18" charset="0"/>
                <a:ea typeface="Libre Baskerville" pitchFamily="18" charset="-122"/>
                <a:cs typeface="Libre Baskerville" pitchFamily="18" charset="-120"/>
              </a:rPr>
              <a:t>KEY FINDING 3: AMERICA’S TOP 10 MARKED-UP CORRIDORS</a:t>
            </a:r>
            <a:endParaRPr lang="en-US" sz="2600" dirty="0"/>
          </a:p>
        </p:txBody>
      </p:sp>
      <p:sp>
        <p:nvSpPr>
          <p:cNvPr id="5" name="Shape 3"/>
          <p:cNvSpPr/>
          <p:nvPr/>
        </p:nvSpPr>
        <p:spPr>
          <a:xfrm>
            <a:off x="812800" y="1906885"/>
            <a:ext cx="6350000" cy="3651250"/>
          </a:xfrm>
          <a:prstGeom prst="roundRect">
            <a:avLst>
              <a:gd name="adj" fmla="val 2087"/>
            </a:avLst>
          </a:prstGeom>
          <a:solidFill>
            <a:srgbClr val="FFFFFF"/>
          </a:solidFill>
          <a:ln/>
        </p:spPr>
      </p:sp>
      <p:pic>
        <p:nvPicPr>
          <p:cNvPr id="6" name="Image 0" descr="Table of the top 10 domestically monopolized corridors ranked by fare yield, with carrier and HHI">    </p:cNvPr>
          <p:cNvPicPr>
            <a:picLocks noChangeAspect="1"/>
          </p:cNvPicPr>
          <p:nvPr/>
        </p:nvPicPr>
        <p:blipFill>
          <a:blip r:embed="rId1"/>
          <a:srcRect l="-63" r="-63" t="0" b="0"/>
          <a:stretch/>
        </p:blipFill>
        <p:spPr>
          <a:xfrm>
            <a:off x="819150" y="1913235"/>
            <a:ext cx="6337300" cy="3638550"/>
          </a:xfrm>
          <a:prstGeom prst="roundRect">
            <a:avLst>
              <a:gd name="adj" fmla="val 1920"/>
            </a:avLst>
          </a:prstGeom>
        </p:spPr>
      </p:pic>
      <p:sp>
        <p:nvSpPr>
          <p:cNvPr id="7" name="Shape 4"/>
          <p:cNvSpPr/>
          <p:nvPr/>
        </p:nvSpPr>
        <p:spPr>
          <a:xfrm>
            <a:off x="815975" y="1910060"/>
            <a:ext cx="6343650" cy="3644900"/>
          </a:xfrm>
          <a:prstGeom prst="roundRect">
            <a:avLst>
              <a:gd name="adj" fmla="val 2003"/>
            </a:avLst>
          </a:prstGeom>
          <a:noFill/>
          <a:ln w="6350">
            <a:solidFill>
              <a:srgbClr val="DDD8CE"/>
            </a:solidFill>
            <a:prstDash val="solid"/>
          </a:ln>
        </p:spPr>
      </p:sp>
      <p:sp>
        <p:nvSpPr>
          <p:cNvPr id="8" name="Text 5"/>
          <p:cNvSpPr/>
          <p:nvPr/>
        </p:nvSpPr>
        <p:spPr>
          <a:xfrm>
            <a:off x="812800" y="5647035"/>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70"/>
                </a:solidFill>
                <a:latin typeface="Public Sans" pitchFamily="34" charset="0"/>
                <a:ea typeface="Public Sans" pitchFamily="34" charset="-122"/>
                <a:cs typeface="Public Sans" pitchFamily="34" charset="-120"/>
              </a:rPr>
              <a:t>Top 10 domestically monopolized corridors by fare yield</a:t>
            </a:r>
            <a:endParaRPr lang="en-US" sz="1200" dirty="0"/>
          </a:p>
        </p:txBody>
      </p:sp>
      <p:sp>
        <p:nvSpPr>
          <p:cNvPr id="9" name="Shape 6"/>
          <p:cNvSpPr/>
          <p:nvPr/>
        </p:nvSpPr>
        <p:spPr>
          <a:xfrm>
            <a:off x="7467600" y="2325886"/>
            <a:ext cx="406400" cy="406400"/>
          </a:xfrm>
          <a:prstGeom prst="roundRect">
            <a:avLst>
              <a:gd name="adj" fmla="val 50000"/>
            </a:avLst>
          </a:prstGeom>
          <a:solidFill>
            <a:srgbClr val="7A1F2B"/>
          </a:solidFill>
          <a:ln/>
        </p:spPr>
      </p:sp>
      <p:pic>
        <p:nvPicPr>
          <p:cNvPr id="10" name="Image 1" descr="Warning">    </p:cNvPr>
          <p:cNvPicPr>
            <a:picLocks noChangeAspect="1"/>
          </p:cNvPicPr>
          <p:nvPr/>
        </p:nvPicPr>
        <p:blipFill>
          <a:blip r:embed="rId2"/>
          <a:srcRect l="0" r="0" t="0" b="0"/>
          <a:stretch/>
        </p:blipFill>
        <p:spPr>
          <a:xfrm>
            <a:off x="7569200" y="2427486"/>
            <a:ext cx="203200" cy="203200"/>
          </a:xfrm>
          <a:prstGeom prst="rect">
            <a:avLst/>
          </a:prstGeom>
        </p:spPr>
      </p:pic>
      <p:sp>
        <p:nvSpPr>
          <p:cNvPr id="11" name="Text 7"/>
          <p:cNvSpPr/>
          <p:nvPr/>
        </p:nvSpPr>
        <p:spPr>
          <a:xfrm>
            <a:off x="8001000" y="2325886"/>
            <a:ext cx="347954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6262A"/>
                </a:solidFill>
                <a:latin typeface="Libre Baskerville" pitchFamily="18" charset="0"/>
                <a:ea typeface="Libre Baskerville" pitchFamily="18" charset="-122"/>
                <a:cs typeface="Libre Baskerville" pitchFamily="18" charset="-120"/>
              </a:rPr>
              <a:t>Extreme Route Yields</a:t>
            </a:r>
            <a:endParaRPr lang="en-US" sz="1400" dirty="0"/>
          </a:p>
        </p:txBody>
      </p:sp>
      <p:sp>
        <p:nvSpPr>
          <p:cNvPr id="12" name="Text 8"/>
          <p:cNvSpPr/>
          <p:nvPr/>
        </p:nvSpPr>
        <p:spPr>
          <a:xfrm>
            <a:off x="8001000" y="2577306"/>
            <a:ext cx="3479546"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50"/>
                </a:solidFill>
                <a:latin typeface="Public Sans" pitchFamily="34" charset="0"/>
                <a:ea typeface="Public Sans" pitchFamily="34" charset="-122"/>
                <a:cs typeface="Public Sans" pitchFamily="34" charset="-120"/>
              </a:rPr>
              <a:t>268¢–474¢ per non-stop mile: premiums over 12-25x the competitive baselines (typically 18¢–22¢/mile)</a:t>
            </a:r>
            <a:endParaRPr lang="en-US" sz="1300" dirty="0"/>
          </a:p>
        </p:txBody>
      </p:sp>
      <p:sp>
        <p:nvSpPr>
          <p:cNvPr id="13" name="Shape 9"/>
          <p:cNvSpPr/>
          <p:nvPr/>
        </p:nvSpPr>
        <p:spPr>
          <a:xfrm>
            <a:off x="7467600" y="3423642"/>
            <a:ext cx="406400" cy="406400"/>
          </a:xfrm>
          <a:prstGeom prst="roundRect">
            <a:avLst>
              <a:gd name="adj" fmla="val 50000"/>
            </a:avLst>
          </a:prstGeom>
          <a:solidFill>
            <a:srgbClr val="7A1F2B"/>
          </a:solidFill>
          <a:ln/>
        </p:spPr>
      </p:sp>
      <p:pic>
        <p:nvPicPr>
          <p:cNvPr id="14" name="Image 2" descr="Link">    </p:cNvPr>
          <p:cNvPicPr>
            <a:picLocks noChangeAspect="1"/>
          </p:cNvPicPr>
          <p:nvPr/>
        </p:nvPicPr>
        <p:blipFill>
          <a:blip r:embed="rId3"/>
          <a:srcRect l="0" r="0" t="0" b="0"/>
          <a:stretch/>
        </p:blipFill>
        <p:spPr>
          <a:xfrm>
            <a:off x="7569200" y="3525242"/>
            <a:ext cx="203200" cy="203200"/>
          </a:xfrm>
          <a:prstGeom prst="rect">
            <a:avLst/>
          </a:prstGeom>
        </p:spPr>
      </p:pic>
      <p:sp>
        <p:nvSpPr>
          <p:cNvPr id="15" name="Text 10"/>
          <p:cNvSpPr/>
          <p:nvPr/>
        </p:nvSpPr>
        <p:spPr>
          <a:xfrm>
            <a:off x="8001000" y="3423642"/>
            <a:ext cx="40538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6262A"/>
                </a:solidFill>
                <a:latin typeface="Libre Baskerville" pitchFamily="18" charset="0"/>
                <a:ea typeface="Libre Baskerville" pitchFamily="18" charset="-122"/>
                <a:cs typeface="Libre Baskerville" pitchFamily="18" charset="-120"/>
              </a:rPr>
              <a:t>Captive Spoke &amp; Hub Vulnerability</a:t>
            </a:r>
            <a:endParaRPr lang="en-US" sz="1400" dirty="0"/>
          </a:p>
        </p:txBody>
      </p:sp>
      <p:sp>
        <p:nvSpPr>
          <p:cNvPr id="16" name="Text 11"/>
          <p:cNvSpPr/>
          <p:nvPr/>
        </p:nvSpPr>
        <p:spPr>
          <a:xfrm>
            <a:off x="8001000" y="3675063"/>
            <a:ext cx="3479546"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50"/>
                </a:solidFill>
                <a:latin typeface="Public Sans" pitchFamily="34" charset="0"/>
                <a:ea typeface="Public Sans" pitchFamily="34" charset="-122"/>
                <a:cs typeface="Public Sans" pitchFamily="34" charset="-120"/>
              </a:rPr>
              <a:t>Single carriers feed fortress hubs, leaving regional passengers zero non-stop alternatives</a:t>
            </a:r>
            <a:endParaRPr lang="en-US" sz="1300" dirty="0"/>
          </a:p>
        </p:txBody>
      </p:sp>
      <p:sp>
        <p:nvSpPr>
          <p:cNvPr id="17" name="Shape 12"/>
          <p:cNvSpPr/>
          <p:nvPr/>
        </p:nvSpPr>
        <p:spPr>
          <a:xfrm>
            <a:off x="7467600" y="4521398"/>
            <a:ext cx="406400" cy="406400"/>
          </a:xfrm>
          <a:prstGeom prst="roundRect">
            <a:avLst>
              <a:gd name="adj" fmla="val 50000"/>
            </a:avLst>
          </a:prstGeom>
          <a:solidFill>
            <a:srgbClr val="7A1F2B"/>
          </a:solidFill>
          <a:ln/>
        </p:spPr>
      </p:sp>
      <p:pic>
        <p:nvPicPr>
          <p:cNvPr id="18" name="Image 3" descr="Lock">    </p:cNvPr>
          <p:cNvPicPr>
            <a:picLocks noChangeAspect="1"/>
          </p:cNvPicPr>
          <p:nvPr/>
        </p:nvPicPr>
        <p:blipFill>
          <a:blip r:embed="rId4"/>
          <a:srcRect l="0" r="0" t="0" b="0"/>
          <a:stretch/>
        </p:blipFill>
        <p:spPr>
          <a:xfrm>
            <a:off x="7569200" y="4622998"/>
            <a:ext cx="203200" cy="203200"/>
          </a:xfrm>
          <a:prstGeom prst="rect">
            <a:avLst/>
          </a:prstGeom>
        </p:spPr>
      </p:pic>
      <p:sp>
        <p:nvSpPr>
          <p:cNvPr id="19" name="Text 13"/>
          <p:cNvSpPr/>
          <p:nvPr/>
        </p:nvSpPr>
        <p:spPr>
          <a:xfrm>
            <a:off x="8001000" y="4521398"/>
            <a:ext cx="347954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6262A"/>
                </a:solidFill>
                <a:latin typeface="Libre Baskerville" pitchFamily="18" charset="0"/>
                <a:ea typeface="Libre Baskerville" pitchFamily="18" charset="-122"/>
                <a:cs typeface="Libre Baskerville" pitchFamily="18" charset="-120"/>
              </a:rPr>
              <a:t>Persistent Fuel Inelasticity</a:t>
            </a:r>
            <a:endParaRPr lang="en-US" sz="1400" dirty="0"/>
          </a:p>
        </p:txBody>
      </p:sp>
      <p:sp>
        <p:nvSpPr>
          <p:cNvPr id="20" name="Text 14"/>
          <p:cNvSpPr/>
          <p:nvPr/>
        </p:nvSpPr>
        <p:spPr>
          <a:xfrm>
            <a:off x="8001000" y="4772819"/>
            <a:ext cx="3479546"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50"/>
                </a:solidFill>
                <a:latin typeface="Public Sans" pitchFamily="34" charset="0"/>
                <a:ea typeface="Public Sans" pitchFamily="34" charset="-122"/>
                <a:cs typeface="Public Sans" pitchFamily="34" charset="-120"/>
              </a:rPr>
              <a:t>Despite big drops in kerosene spot prices, yields on these 10 routes stayed flat or expanded</a:t>
            </a:r>
            <a:endParaRPr lang="en-US" sz="1300" dirty="0"/>
          </a:p>
        </p:txBody>
      </p:sp>
      <p:sp>
        <p:nvSpPr>
          <p:cNvPr id="21" name="Text 1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B6B70"/>
                </a:solidFill>
                <a:latin typeface="Public Sans" pitchFamily="34" charset="0"/>
                <a:ea typeface="Public Sans" pitchFamily="34" charset="-122"/>
                <a:cs typeface="Public Sans" pitchFamily="34" charset="-120"/>
              </a:rPr>
              <a:t>Quantifying the Airline “Monopoly Tax” · MIST 6380</a:t>
            </a:r>
            <a:endParaRPr lang="en-US" sz="1200" dirty="0"/>
          </a:p>
        </p:txBody>
      </p:sp>
      <p:sp>
        <p:nvSpPr>
          <p:cNvPr id="22"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7A1F2B"/>
                </a:solidFill>
                <a:latin typeface="Public Sans" pitchFamily="34" charset="0"/>
                <a:ea typeface="Public Sans" pitchFamily="34" charset="-122"/>
                <a:cs typeface="Public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1EC"/>
        </a:solidFill>
      </p:bgPr>
    </p:bg>
    <p:spTree>
      <p:nvGrpSpPr>
        <p:cNvPr id="1" name=""/>
        <p:cNvGrpSpPr/>
        <p:nvPr/>
      </p:nvGrpSpPr>
      <p:grpSpPr>
        <a:xfrm>
          <a:off x="0" y="0"/>
          <a:ext cx="0" cy="0"/>
          <a:chOff x="0" y="0"/>
          <a:chExt cx="0" cy="0"/>
        </a:xfrm>
      </p:grpSpPr>
      <p:sp>
        <p:nvSpPr>
          <p:cNvPr id="2" name="Shape 0"/>
          <p:cNvSpPr/>
          <p:nvPr/>
        </p:nvSpPr>
        <p:spPr>
          <a:xfrm>
            <a:off x="812800" y="697210"/>
            <a:ext cx="304800" cy="38100"/>
          </a:xfrm>
          <a:prstGeom prst="rect">
            <a:avLst/>
          </a:prstGeom>
          <a:solidFill>
            <a:srgbClr val="7A1F2B"/>
          </a:solidFill>
          <a:ln/>
        </p:spPr>
      </p:sp>
      <p:sp>
        <p:nvSpPr>
          <p:cNvPr id="3" name="Text 1"/>
          <p:cNvSpPr/>
          <p:nvPr/>
        </p:nvSpPr>
        <p:spPr>
          <a:xfrm>
            <a:off x="1219200" y="609600"/>
            <a:ext cx="133862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1F2B"/>
                </a:solidFill>
                <a:latin typeface="Public Sans" pitchFamily="34" charset="0"/>
                <a:ea typeface="Public Sans" pitchFamily="34" charset="-122"/>
                <a:cs typeface="Public Sans" pitchFamily="34" charset="-120"/>
              </a:rPr>
              <a:t>THE IMPACT</a:t>
            </a:r>
            <a:endParaRPr lang="en-US" sz="1200" dirty="0"/>
          </a:p>
        </p:txBody>
      </p:sp>
      <p:sp>
        <p:nvSpPr>
          <p:cNvPr id="4" name="Text 2"/>
          <p:cNvSpPr/>
          <p:nvPr>
            <p:ph type="title"/>
          </p:nvPr>
        </p:nvSpPr>
        <p:spPr>
          <a:xfrm>
            <a:off x="812800" y="91182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26262A"/>
                </a:solidFill>
                <a:latin typeface="Libre Baskerville" pitchFamily="18" charset="0"/>
                <a:ea typeface="Libre Baskerville" pitchFamily="18" charset="-122"/>
                <a:cs typeface="Libre Baskerville" pitchFamily="18" charset="-120"/>
              </a:rPr>
              <a:t>PRACTICAL APPLICATIONS &amp; STAKEHOLDER VALUE</a:t>
            </a:r>
            <a:endParaRPr lang="en-US" sz="2600" dirty="0"/>
          </a:p>
        </p:txBody>
      </p:sp>
      <p:sp>
        <p:nvSpPr>
          <p:cNvPr id="5" name="Shape 3"/>
          <p:cNvSpPr/>
          <p:nvPr/>
        </p:nvSpPr>
        <p:spPr>
          <a:xfrm>
            <a:off x="815975" y="1599505"/>
            <a:ext cx="3384550" cy="4239320"/>
          </a:xfrm>
          <a:prstGeom prst="roundRect">
            <a:avLst>
              <a:gd name="adj" fmla="val 3659"/>
            </a:avLst>
          </a:prstGeom>
          <a:solidFill>
            <a:srgbClr val="FBFAF7"/>
          </a:solidFill>
          <a:ln w="6350">
            <a:solidFill>
              <a:srgbClr val="DDD8CE"/>
            </a:solidFill>
            <a:prstDash val="solid"/>
          </a:ln>
        </p:spPr>
      </p:sp>
      <p:sp>
        <p:nvSpPr>
          <p:cNvPr id="6" name="Shape 4"/>
          <p:cNvSpPr/>
          <p:nvPr/>
        </p:nvSpPr>
        <p:spPr>
          <a:xfrm>
            <a:off x="1073150" y="1856680"/>
            <a:ext cx="558800" cy="558800"/>
          </a:xfrm>
          <a:prstGeom prst="roundRect">
            <a:avLst>
              <a:gd name="adj" fmla="val 50000"/>
            </a:avLst>
          </a:prstGeom>
          <a:solidFill>
            <a:srgbClr val="7A1F2B"/>
          </a:solidFill>
          <a:ln/>
        </p:spPr>
      </p:sp>
      <p:pic>
        <p:nvPicPr>
          <p:cNvPr id="7" name="Image 0" descr="Users">    </p:cNvPr>
          <p:cNvPicPr>
            <a:picLocks noChangeAspect="1"/>
          </p:cNvPicPr>
          <p:nvPr/>
        </p:nvPicPr>
        <p:blipFill>
          <a:blip r:embed="rId1"/>
          <a:srcRect l="0" r="0" t="0" b="0"/>
          <a:stretch/>
        </p:blipFill>
        <p:spPr>
          <a:xfrm>
            <a:off x="1212850" y="1996380"/>
            <a:ext cx="279400" cy="279400"/>
          </a:xfrm>
          <a:prstGeom prst="rect">
            <a:avLst/>
          </a:prstGeom>
        </p:spPr>
      </p:pic>
      <p:sp>
        <p:nvSpPr>
          <p:cNvPr id="8" name="Text 5"/>
          <p:cNvSpPr/>
          <p:nvPr/>
        </p:nvSpPr>
        <p:spPr>
          <a:xfrm>
            <a:off x="1073150" y="2567880"/>
            <a:ext cx="2956306"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A"/>
                </a:solidFill>
                <a:latin typeface="Libre Baskerville" pitchFamily="18" charset="0"/>
                <a:ea typeface="Libre Baskerville" pitchFamily="18" charset="-122"/>
                <a:cs typeface="Libre Baskerville" pitchFamily="18" charset="-120"/>
              </a:rPr>
              <a:t>Corporate Travel Managers</a:t>
            </a:r>
            <a:endParaRPr lang="en-US" sz="1800" dirty="0"/>
          </a:p>
        </p:txBody>
      </p:sp>
      <p:sp>
        <p:nvSpPr>
          <p:cNvPr id="9" name="Text 6"/>
          <p:cNvSpPr/>
          <p:nvPr/>
        </p:nvSpPr>
        <p:spPr>
          <a:xfrm>
            <a:off x="1157732" y="3268861"/>
            <a:ext cx="2864104" cy="772071"/>
          </a:xfrm>
          <a:prstGeom prst="rect">
            <a:avLst/>
          </a:prstGeom>
          <a:noFill/>
          <a:ln/>
        </p:spPr>
        <p:txBody>
          <a:bodyPr wrap="square" lIns="0" tIns="0" rIns="0" bIns="0" rtlCol="0" anchor="t">
            <a:normAutofit/>
          </a:bodyPr>
          <a:lstStyle/>
          <a:p>
            <a:pPr algn="l" marL="169418" indent="-169418">
              <a:lnSpc>
                <a:spcPts val="1960"/>
              </a:lnSpc>
              <a:buSzPct val="100000"/>
              <a:buChar char="•"/>
            </a:pPr>
            <a:r>
              <a:rPr lang="en-US" sz="1400" dirty="0">
                <a:solidFill>
                  <a:srgbClr val="4A4A50"/>
                </a:solidFill>
                <a:latin typeface="Public Sans" pitchFamily="34" charset="0"/>
                <a:ea typeface="Public Sans" pitchFamily="34" charset="-122"/>
                <a:cs typeface="Public Sans" pitchFamily="34" charset="-120"/>
              </a:rPr>
              <a:t>Build dynamic HHI and carrier-concentration thresholds into procurement engines</a:t>
            </a:r>
            <a:endParaRPr lang="en-US" sz="1400" dirty="0"/>
          </a:p>
        </p:txBody>
      </p:sp>
      <p:sp>
        <p:nvSpPr>
          <p:cNvPr id="10" name="Text 7"/>
          <p:cNvSpPr/>
          <p:nvPr/>
        </p:nvSpPr>
        <p:spPr>
          <a:xfrm>
            <a:off x="1157732" y="4129832"/>
            <a:ext cx="2864104" cy="772071"/>
          </a:xfrm>
          <a:prstGeom prst="rect">
            <a:avLst/>
          </a:prstGeom>
          <a:noFill/>
          <a:ln/>
        </p:spPr>
        <p:txBody>
          <a:bodyPr wrap="square" lIns="0" tIns="0" rIns="0" bIns="0" rtlCol="0" anchor="t">
            <a:normAutofit/>
          </a:bodyPr>
          <a:lstStyle/>
          <a:p>
            <a:pPr algn="l" marL="169418" indent="-169418">
              <a:lnSpc>
                <a:spcPts val="1960"/>
              </a:lnSpc>
              <a:buSzPct val="100000"/>
              <a:buChar char="•"/>
            </a:pPr>
            <a:r>
              <a:rPr lang="en-US" sz="1400" dirty="0">
                <a:solidFill>
                  <a:srgbClr val="4A4A50"/>
                </a:solidFill>
                <a:latin typeface="Public Sans" pitchFamily="34" charset="0"/>
                <a:ea typeface="Public Sans" pitchFamily="34" charset="-122"/>
                <a:cs typeface="Public Sans" pitchFamily="34" charset="-120"/>
              </a:rPr>
              <a:t>Flag captive routes and mandate alternative secondary hubs</a:t>
            </a:r>
            <a:endParaRPr lang="en-US" sz="1400" dirty="0"/>
          </a:p>
        </p:txBody>
      </p:sp>
      <p:sp>
        <p:nvSpPr>
          <p:cNvPr id="11" name="Text 8"/>
          <p:cNvSpPr/>
          <p:nvPr/>
        </p:nvSpPr>
        <p:spPr>
          <a:xfrm>
            <a:off x="1157732" y="4990802"/>
            <a:ext cx="2864104" cy="523180"/>
          </a:xfrm>
          <a:prstGeom prst="rect">
            <a:avLst/>
          </a:prstGeom>
          <a:noFill/>
          <a:ln/>
        </p:spPr>
        <p:txBody>
          <a:bodyPr wrap="square" lIns="0" tIns="0" rIns="0" bIns="0" rtlCol="0" anchor="t">
            <a:normAutofit/>
          </a:bodyPr>
          <a:lstStyle/>
          <a:p>
            <a:pPr algn="l" marL="169418" indent="-169418">
              <a:lnSpc>
                <a:spcPts val="1960"/>
              </a:lnSpc>
              <a:buSzPct val="100000"/>
              <a:buChar char="•"/>
            </a:pPr>
            <a:r>
              <a:rPr lang="en-US" sz="1400" dirty="0">
                <a:solidFill>
                  <a:srgbClr val="4A4A50"/>
                </a:solidFill>
                <a:latin typeface="Public Sans" pitchFamily="34" charset="0"/>
                <a:ea typeface="Public Sans" pitchFamily="34" charset="-122"/>
                <a:cs typeface="Public Sans" pitchFamily="34" charset="-120"/>
              </a:rPr>
              <a:t>Negotiate volume discounts on marked-up corridors</a:t>
            </a:r>
            <a:endParaRPr lang="en-US" sz="1400" dirty="0"/>
          </a:p>
        </p:txBody>
      </p:sp>
      <p:sp>
        <p:nvSpPr>
          <p:cNvPr id="12" name="Shape 9"/>
          <p:cNvSpPr/>
          <p:nvPr/>
        </p:nvSpPr>
        <p:spPr>
          <a:xfrm>
            <a:off x="4410075" y="1599505"/>
            <a:ext cx="3384550" cy="4239320"/>
          </a:xfrm>
          <a:prstGeom prst="roundRect">
            <a:avLst>
              <a:gd name="adj" fmla="val 3659"/>
            </a:avLst>
          </a:prstGeom>
          <a:solidFill>
            <a:srgbClr val="FBFAF7"/>
          </a:solidFill>
          <a:ln w="6350">
            <a:solidFill>
              <a:srgbClr val="DDD8CE"/>
            </a:solidFill>
            <a:prstDash val="solid"/>
          </a:ln>
        </p:spPr>
      </p:sp>
      <p:sp>
        <p:nvSpPr>
          <p:cNvPr id="13" name="Shape 10"/>
          <p:cNvSpPr/>
          <p:nvPr/>
        </p:nvSpPr>
        <p:spPr>
          <a:xfrm>
            <a:off x="4667250" y="1856680"/>
            <a:ext cx="558800" cy="558800"/>
          </a:xfrm>
          <a:prstGeom prst="roundRect">
            <a:avLst>
              <a:gd name="adj" fmla="val 50000"/>
            </a:avLst>
          </a:prstGeom>
          <a:solidFill>
            <a:srgbClr val="7A1F2B"/>
          </a:solidFill>
          <a:ln/>
        </p:spPr>
      </p:sp>
      <p:pic>
        <p:nvPicPr>
          <p:cNvPr id="14" name="Image 1" descr="Search">    </p:cNvPr>
          <p:cNvPicPr>
            <a:picLocks noChangeAspect="1"/>
          </p:cNvPicPr>
          <p:nvPr/>
        </p:nvPicPr>
        <p:blipFill>
          <a:blip r:embed="rId2"/>
          <a:srcRect l="0" r="0" t="0" b="0"/>
          <a:stretch/>
        </p:blipFill>
        <p:spPr>
          <a:xfrm>
            <a:off x="4806950" y="1996380"/>
            <a:ext cx="279400" cy="279400"/>
          </a:xfrm>
          <a:prstGeom prst="rect">
            <a:avLst/>
          </a:prstGeom>
        </p:spPr>
      </p:pic>
      <p:sp>
        <p:nvSpPr>
          <p:cNvPr id="15" name="Text 11"/>
          <p:cNvSpPr/>
          <p:nvPr/>
        </p:nvSpPr>
        <p:spPr>
          <a:xfrm>
            <a:off x="4667250" y="2567880"/>
            <a:ext cx="2956306"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A"/>
                </a:solidFill>
                <a:latin typeface="Libre Baskerville" pitchFamily="18" charset="0"/>
                <a:ea typeface="Libre Baskerville" pitchFamily="18" charset="-122"/>
                <a:cs typeface="Libre Baskerville" pitchFamily="18" charset="-120"/>
              </a:rPr>
              <a:t>Consumer Transparency</a:t>
            </a:r>
            <a:endParaRPr lang="en-US" sz="1800" dirty="0"/>
          </a:p>
        </p:txBody>
      </p:sp>
      <p:sp>
        <p:nvSpPr>
          <p:cNvPr id="16" name="Text 12"/>
          <p:cNvSpPr/>
          <p:nvPr/>
        </p:nvSpPr>
        <p:spPr>
          <a:xfrm>
            <a:off x="4751832" y="3268861"/>
            <a:ext cx="2864104" cy="274290"/>
          </a:xfrm>
          <a:prstGeom prst="rect">
            <a:avLst/>
          </a:prstGeom>
          <a:noFill/>
          <a:ln/>
        </p:spPr>
        <p:txBody>
          <a:bodyPr wrap="square" lIns="0" tIns="0" rIns="0" bIns="0" rtlCol="0" anchor="t">
            <a:normAutofit/>
          </a:bodyPr>
          <a:lstStyle/>
          <a:p>
            <a:pPr algn="l" marL="169418" indent="-169418">
              <a:lnSpc>
                <a:spcPts val="1960"/>
              </a:lnSpc>
              <a:buSzPct val="100000"/>
              <a:buChar char="•"/>
            </a:pPr>
            <a:r>
              <a:rPr lang="en-US" sz="1400" dirty="0">
                <a:solidFill>
                  <a:srgbClr val="4A4A50"/>
                </a:solidFill>
                <a:latin typeface="Public Sans" pitchFamily="34" charset="0"/>
                <a:ea typeface="Public Sans" pitchFamily="34" charset="-122"/>
                <a:cs typeface="Public Sans" pitchFamily="34" charset="-120"/>
              </a:rPr>
              <a:t>Fair-fare benchmarking tools</a:t>
            </a:r>
            <a:endParaRPr lang="en-US" sz="1400" dirty="0"/>
          </a:p>
        </p:txBody>
      </p:sp>
      <p:sp>
        <p:nvSpPr>
          <p:cNvPr id="17" name="Text 13"/>
          <p:cNvSpPr/>
          <p:nvPr/>
        </p:nvSpPr>
        <p:spPr>
          <a:xfrm>
            <a:off x="4751832" y="3632051"/>
            <a:ext cx="2864104" cy="772071"/>
          </a:xfrm>
          <a:prstGeom prst="rect">
            <a:avLst/>
          </a:prstGeom>
          <a:noFill/>
          <a:ln/>
        </p:spPr>
        <p:txBody>
          <a:bodyPr wrap="square" lIns="0" tIns="0" rIns="0" bIns="0" rtlCol="0" anchor="t">
            <a:normAutofit/>
          </a:bodyPr>
          <a:lstStyle/>
          <a:p>
            <a:pPr algn="l" marL="169418" indent="-169418">
              <a:lnSpc>
                <a:spcPts val="1960"/>
              </a:lnSpc>
              <a:buSzPct val="100000"/>
              <a:buChar char="•"/>
            </a:pPr>
            <a:r>
              <a:rPr lang="en-US" sz="1400" dirty="0">
                <a:solidFill>
                  <a:srgbClr val="4A4A50"/>
                </a:solidFill>
                <a:latin typeface="Public Sans" pitchFamily="34" charset="0"/>
                <a:ea typeface="Public Sans" pitchFamily="34" charset="-122"/>
                <a:cs typeface="Public Sans" pitchFamily="34" charset="-120"/>
              </a:rPr>
              <a:t>Expected price built from non-stop distance and prevailing jet fuel spot rates</a:t>
            </a:r>
            <a:endParaRPr lang="en-US" sz="1400" dirty="0"/>
          </a:p>
        </p:txBody>
      </p:sp>
      <p:sp>
        <p:nvSpPr>
          <p:cNvPr id="18" name="Text 14"/>
          <p:cNvSpPr/>
          <p:nvPr/>
        </p:nvSpPr>
        <p:spPr>
          <a:xfrm>
            <a:off x="4751832" y="4493022"/>
            <a:ext cx="2864104" cy="772071"/>
          </a:xfrm>
          <a:prstGeom prst="rect">
            <a:avLst/>
          </a:prstGeom>
          <a:noFill/>
          <a:ln/>
        </p:spPr>
        <p:txBody>
          <a:bodyPr wrap="square" lIns="0" tIns="0" rIns="0" bIns="0" rtlCol="0" anchor="t">
            <a:normAutofit/>
          </a:bodyPr>
          <a:lstStyle/>
          <a:p>
            <a:pPr algn="l" marL="169418" indent="-169418">
              <a:lnSpc>
                <a:spcPts val="1960"/>
              </a:lnSpc>
              <a:buSzPct val="100000"/>
              <a:buChar char="•"/>
            </a:pPr>
            <a:r>
              <a:rPr lang="en-US" sz="1400" dirty="0">
                <a:solidFill>
                  <a:srgbClr val="4A4A50"/>
                </a:solidFill>
                <a:latin typeface="Public Sans" pitchFamily="34" charset="0"/>
                <a:ea typeface="Public Sans" pitchFamily="34" charset="-122"/>
                <a:cs typeface="Public Sans" pitchFamily="34" charset="-120"/>
              </a:rPr>
              <a:t>Alert travelers when a quote carries an exorbitant monopoly premium</a:t>
            </a:r>
            <a:endParaRPr lang="en-US" sz="1400" dirty="0"/>
          </a:p>
        </p:txBody>
      </p:sp>
      <p:sp>
        <p:nvSpPr>
          <p:cNvPr id="19" name="Shape 15"/>
          <p:cNvSpPr/>
          <p:nvPr/>
        </p:nvSpPr>
        <p:spPr>
          <a:xfrm>
            <a:off x="8001000" y="1596330"/>
            <a:ext cx="3378200" cy="4245670"/>
          </a:xfrm>
          <a:prstGeom prst="roundRect">
            <a:avLst>
              <a:gd name="adj" fmla="val 3759"/>
            </a:avLst>
          </a:prstGeom>
          <a:solidFill>
            <a:srgbClr val="26262A"/>
          </a:solidFill>
          <a:ln/>
        </p:spPr>
      </p:sp>
      <p:sp>
        <p:nvSpPr>
          <p:cNvPr id="20" name="Shape 16"/>
          <p:cNvSpPr/>
          <p:nvPr/>
        </p:nvSpPr>
        <p:spPr>
          <a:xfrm>
            <a:off x="8255000" y="1850330"/>
            <a:ext cx="558800" cy="558800"/>
          </a:xfrm>
          <a:prstGeom prst="roundRect">
            <a:avLst>
              <a:gd name="adj" fmla="val 50000"/>
            </a:avLst>
          </a:prstGeom>
          <a:solidFill>
            <a:srgbClr val="B3262E"/>
          </a:solidFill>
          <a:ln/>
        </p:spPr>
      </p:sp>
      <p:pic>
        <p:nvPicPr>
          <p:cNvPr id="21" name="Image 2" descr="Verified">    </p:cNvPr>
          <p:cNvPicPr>
            <a:picLocks noChangeAspect="1"/>
          </p:cNvPicPr>
          <p:nvPr/>
        </p:nvPicPr>
        <p:blipFill>
          <a:blip r:embed="rId3"/>
          <a:srcRect l="0" r="0" t="0" b="0"/>
          <a:stretch/>
        </p:blipFill>
        <p:spPr>
          <a:xfrm>
            <a:off x="8394700" y="1990030"/>
            <a:ext cx="279400" cy="279400"/>
          </a:xfrm>
          <a:prstGeom prst="rect">
            <a:avLst/>
          </a:prstGeom>
        </p:spPr>
      </p:pic>
      <p:sp>
        <p:nvSpPr>
          <p:cNvPr id="22" name="Text 17"/>
          <p:cNvSpPr/>
          <p:nvPr/>
        </p:nvSpPr>
        <p:spPr>
          <a:xfrm>
            <a:off x="8255000" y="2561530"/>
            <a:ext cx="2956306"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F1EC"/>
                </a:solidFill>
                <a:latin typeface="Libre Baskerville" pitchFamily="18" charset="0"/>
                <a:ea typeface="Libre Baskerville" pitchFamily="18" charset="-122"/>
                <a:cs typeface="Libre Baskerville" pitchFamily="18" charset="-120"/>
              </a:rPr>
              <a:t>Antitrust &amp; Regulatory Policy</a:t>
            </a:r>
            <a:endParaRPr lang="en-US" sz="1800" dirty="0"/>
          </a:p>
        </p:txBody>
      </p:sp>
      <p:sp>
        <p:nvSpPr>
          <p:cNvPr id="23" name="Text 18"/>
          <p:cNvSpPr/>
          <p:nvPr/>
        </p:nvSpPr>
        <p:spPr>
          <a:xfrm>
            <a:off x="8339582" y="3262511"/>
            <a:ext cx="2864104" cy="1020961"/>
          </a:xfrm>
          <a:prstGeom prst="rect">
            <a:avLst/>
          </a:prstGeom>
          <a:noFill/>
          <a:ln/>
        </p:spPr>
        <p:txBody>
          <a:bodyPr wrap="square" lIns="0" tIns="0" rIns="0" bIns="0" rtlCol="0" anchor="t">
            <a:normAutofit/>
          </a:bodyPr>
          <a:lstStyle/>
          <a:p>
            <a:pPr algn="l" marL="169418" indent="-169418">
              <a:lnSpc>
                <a:spcPts val="1960"/>
              </a:lnSpc>
              <a:buSzPct val="100000"/>
              <a:buChar char="•"/>
            </a:pPr>
            <a:r>
              <a:rPr lang="en-US" sz="1400" dirty="0">
                <a:solidFill>
                  <a:srgbClr val="D6D2C8"/>
                </a:solidFill>
                <a:latin typeface="Public Sans" pitchFamily="34" charset="0"/>
                <a:ea typeface="Public Sans" pitchFamily="34" charset="-122"/>
                <a:cs typeface="Public Sans" pitchFamily="34" charset="-120"/>
              </a:rPr>
              <a:t>Shift merger and slot-allocation reviews from broad national capacity metrics to route-level concentration indices</a:t>
            </a:r>
            <a:endParaRPr lang="en-US" sz="1400" dirty="0"/>
          </a:p>
        </p:txBody>
      </p:sp>
      <p:sp>
        <p:nvSpPr>
          <p:cNvPr id="24" name="Text 19"/>
          <p:cNvSpPr/>
          <p:nvPr/>
        </p:nvSpPr>
        <p:spPr>
          <a:xfrm>
            <a:off x="8339582" y="4372372"/>
            <a:ext cx="2864104" cy="772071"/>
          </a:xfrm>
          <a:prstGeom prst="rect">
            <a:avLst/>
          </a:prstGeom>
          <a:noFill/>
          <a:ln/>
        </p:spPr>
        <p:txBody>
          <a:bodyPr wrap="square" lIns="0" tIns="0" rIns="0" bIns="0" rtlCol="0" anchor="t">
            <a:normAutofit/>
          </a:bodyPr>
          <a:lstStyle/>
          <a:p>
            <a:pPr algn="l" marL="169418" indent="-169418">
              <a:lnSpc>
                <a:spcPts val="1960"/>
              </a:lnSpc>
              <a:buSzPct val="100000"/>
              <a:buChar char="•"/>
            </a:pPr>
            <a:r>
              <a:rPr lang="en-US" sz="1400" dirty="0">
                <a:solidFill>
                  <a:srgbClr val="D6D2C8"/>
                </a:solidFill>
                <a:latin typeface="Public Sans" pitchFamily="34" charset="0"/>
                <a:ea typeface="Public Sans" pitchFamily="34" charset="-122"/>
                <a:cs typeface="Public Sans" pitchFamily="34" charset="-120"/>
              </a:rPr>
              <a:t>Protect captive regional spoke markets from unconstrained rent extraction</a:t>
            </a:r>
            <a:endParaRPr lang="en-US" sz="1400" dirty="0"/>
          </a:p>
        </p:txBody>
      </p:sp>
      <p:sp>
        <p:nvSpPr>
          <p:cNvPr id="25" name="Text 2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B6B70"/>
                </a:solidFill>
                <a:latin typeface="Public Sans" pitchFamily="34" charset="0"/>
                <a:ea typeface="Public Sans" pitchFamily="34" charset="-122"/>
                <a:cs typeface="Public Sans" pitchFamily="34" charset="-120"/>
              </a:rPr>
              <a:t>Quantifying the Airline “Monopoly Tax” · MIST 6380</a:t>
            </a:r>
            <a:endParaRPr lang="en-US" sz="1200" dirty="0"/>
          </a:p>
        </p:txBody>
      </p:sp>
      <p:sp>
        <p:nvSpPr>
          <p:cNvPr id="26"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7A1F2B"/>
                </a:solidFill>
                <a:latin typeface="Public Sans" pitchFamily="34" charset="0"/>
                <a:ea typeface="Public Sans" pitchFamily="34" charset="-122"/>
                <a:cs typeface="Public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1EC"/>
        </a:solidFill>
      </p:bgPr>
    </p:bg>
    <p:spTree>
      <p:nvGrpSpPr>
        <p:cNvPr id="1" name=""/>
        <p:cNvGrpSpPr/>
        <p:nvPr/>
      </p:nvGrpSpPr>
      <p:grpSpPr>
        <a:xfrm>
          <a:off x="0" y="0"/>
          <a:ext cx="0" cy="0"/>
          <a:chOff x="0" y="0"/>
          <a:chExt cx="0" cy="0"/>
        </a:xfrm>
      </p:grpSpPr>
      <p:sp>
        <p:nvSpPr>
          <p:cNvPr id="2" name="Shape 0"/>
          <p:cNvSpPr/>
          <p:nvPr/>
        </p:nvSpPr>
        <p:spPr>
          <a:xfrm>
            <a:off x="812800" y="697210"/>
            <a:ext cx="304800" cy="38100"/>
          </a:xfrm>
          <a:prstGeom prst="rect">
            <a:avLst/>
          </a:prstGeom>
          <a:solidFill>
            <a:srgbClr val="7A1F2B"/>
          </a:solidFill>
          <a:ln/>
        </p:spPr>
      </p:sp>
      <p:sp>
        <p:nvSpPr>
          <p:cNvPr id="3" name="Text 1"/>
          <p:cNvSpPr/>
          <p:nvPr/>
        </p:nvSpPr>
        <p:spPr>
          <a:xfrm>
            <a:off x="1219200" y="609600"/>
            <a:ext cx="137951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1F2B"/>
                </a:solidFill>
                <a:latin typeface="Public Sans" pitchFamily="34" charset="0"/>
                <a:ea typeface="Public Sans" pitchFamily="34" charset="-122"/>
                <a:cs typeface="Public Sans" pitchFamily="34" charset="-120"/>
              </a:rPr>
              <a:t>NEXT STEPS</a:t>
            </a:r>
            <a:endParaRPr lang="en-US" sz="1200" dirty="0"/>
          </a:p>
        </p:txBody>
      </p:sp>
      <p:sp>
        <p:nvSpPr>
          <p:cNvPr id="4" name="Text 2"/>
          <p:cNvSpPr/>
          <p:nvPr>
            <p:ph type="title"/>
          </p:nvPr>
        </p:nvSpPr>
        <p:spPr>
          <a:xfrm>
            <a:off x="812800" y="91182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26262A"/>
                </a:solidFill>
                <a:latin typeface="Libre Baskerville" pitchFamily="18" charset="0"/>
                <a:ea typeface="Libre Baskerville" pitchFamily="18" charset="-122"/>
                <a:cs typeface="Libre Baskerville" pitchFamily="18" charset="-120"/>
              </a:rPr>
              <a:t>LIMITATIONS &amp; PIPELINE SCALABILITY</a:t>
            </a:r>
            <a:endParaRPr lang="en-US" sz="2600" dirty="0"/>
          </a:p>
        </p:txBody>
      </p:sp>
      <p:sp>
        <p:nvSpPr>
          <p:cNvPr id="5" name="Shape 3"/>
          <p:cNvSpPr/>
          <p:nvPr/>
        </p:nvSpPr>
        <p:spPr>
          <a:xfrm>
            <a:off x="815975" y="1548705"/>
            <a:ext cx="3384550" cy="4290120"/>
          </a:xfrm>
          <a:prstGeom prst="roundRect">
            <a:avLst>
              <a:gd name="adj" fmla="val 3659"/>
            </a:avLst>
          </a:prstGeom>
          <a:solidFill>
            <a:srgbClr val="FBFAF7"/>
          </a:solidFill>
          <a:ln w="6350">
            <a:solidFill>
              <a:srgbClr val="DDD8CE"/>
            </a:solidFill>
            <a:prstDash val="solid"/>
          </a:ln>
        </p:spPr>
      </p:sp>
      <p:sp>
        <p:nvSpPr>
          <p:cNvPr id="6" name="Text 4"/>
          <p:cNvSpPr/>
          <p:nvPr/>
        </p:nvSpPr>
        <p:spPr>
          <a:xfrm>
            <a:off x="1047750" y="181600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7A1F2B"/>
          </a:solidFill>
          <a:ln/>
        </p:spPr>
        <p:txBody>
          <a:bodyPr wrap="square" lIns="0" tIns="0" rIns="0" bIns="0" rtlCol="0" anchor="ctr">
            <a:normAutofit/>
          </a:bodyPr>
          <a:lstStyle/>
          <a:p>
            <a:pPr algn="ctr" indent="0" marL="0">
              <a:lnSpc>
                <a:spcPts val="1820"/>
              </a:lnSpc>
              <a:buNone/>
            </a:pPr>
            <a:r>
              <a:rPr lang="en-US" sz="1300" b="1" dirty="0">
                <a:solidFill>
                  <a:srgbClr val="F3F1EC"/>
                </a:solidFill>
                <a:latin typeface="Public Sans" pitchFamily="34" charset="0"/>
                <a:ea typeface="Public Sans" pitchFamily="34" charset="-122"/>
                <a:cs typeface="Public Sans" pitchFamily="34" charset="-120"/>
              </a:rPr>
              <a:t>01</a:t>
            </a:r>
            <a:endParaRPr lang="en-US" sz="1300" dirty="0"/>
          </a:p>
        </p:txBody>
      </p:sp>
      <p:sp>
        <p:nvSpPr>
          <p:cNvPr id="7" name="Text 5"/>
          <p:cNvSpPr/>
          <p:nvPr/>
        </p:nvSpPr>
        <p:spPr>
          <a:xfrm>
            <a:off x="1504950" y="1780480"/>
            <a:ext cx="2537714"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6262A"/>
                </a:solidFill>
                <a:latin typeface="Libre Baskerville" pitchFamily="18" charset="0"/>
                <a:ea typeface="Libre Baskerville" pitchFamily="18" charset="-122"/>
                <a:cs typeface="Libre Baskerville" pitchFamily="18" charset="-120"/>
              </a:rPr>
              <a:t>DATA GRANULARITY CONSTRAINTS</a:t>
            </a:r>
            <a:endParaRPr lang="en-US" sz="1400" dirty="0"/>
          </a:p>
        </p:txBody>
      </p:sp>
      <p:sp>
        <p:nvSpPr>
          <p:cNvPr id="8" name="Text 6"/>
          <p:cNvSpPr/>
          <p:nvPr/>
        </p:nvSpPr>
        <p:spPr>
          <a:xfrm>
            <a:off x="1047750" y="2359521"/>
            <a:ext cx="300863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7A1F2B"/>
                </a:solidFill>
                <a:latin typeface="Public Sans" pitchFamily="34" charset="0"/>
                <a:ea typeface="Public Sans" pitchFamily="34" charset="-122"/>
                <a:cs typeface="Public Sans" pitchFamily="34" charset="-120"/>
              </a:rPr>
              <a:t>Ticketing Lag &amp; Survey Scope</a:t>
            </a:r>
            <a:endParaRPr lang="en-US" sz="1300" dirty="0"/>
          </a:p>
        </p:txBody>
      </p:sp>
      <p:sp>
        <p:nvSpPr>
          <p:cNvPr id="9" name="Text 7"/>
          <p:cNvSpPr/>
          <p:nvPr/>
        </p:nvSpPr>
        <p:spPr>
          <a:xfrm>
            <a:off x="1047750" y="2616696"/>
            <a:ext cx="3008630"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50"/>
                </a:solidFill>
                <a:latin typeface="Public Sans" pitchFamily="34" charset="0"/>
                <a:ea typeface="Public Sans" pitchFamily="34" charset="-122"/>
                <a:cs typeface="Public Sans" pitchFamily="34" charset="-120"/>
              </a:rPr>
              <a:t>DOT DB1B is a 10% survey sample, reported quarterly. It hides intra-month pricing, day-of-week surges and last-minute business fares.</a:t>
            </a:r>
            <a:endParaRPr lang="en-US" sz="1300" dirty="0"/>
          </a:p>
        </p:txBody>
      </p:sp>
      <p:pic>
        <p:nvPicPr>
          <p:cNvPr id="10" name="Image 0" descr="line">    </p:cNvPr>
          <p:cNvPicPr>
            <a:picLocks noChangeAspect="1"/>
          </p:cNvPicPr>
          <p:nvPr/>
        </p:nvPicPr>
        <p:blipFill>
          <a:blip r:embed="rId1"/>
          <a:srcRect l="0" r="0" t="0" b="0"/>
          <a:stretch/>
        </p:blipFill>
        <p:spPr>
          <a:xfrm>
            <a:off x="1047750" y="3660477"/>
            <a:ext cx="2921000" cy="6350"/>
          </a:xfrm>
          <a:prstGeom prst="rect">
            <a:avLst/>
          </a:prstGeom>
        </p:spPr>
      </p:pic>
      <p:sp>
        <p:nvSpPr>
          <p:cNvPr id="11" name="Text 8"/>
          <p:cNvSpPr/>
          <p:nvPr/>
        </p:nvSpPr>
        <p:spPr>
          <a:xfrm>
            <a:off x="1047750" y="3819227"/>
            <a:ext cx="300863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7A1F2B"/>
                </a:solidFill>
                <a:latin typeface="Public Sans" pitchFamily="34" charset="0"/>
                <a:ea typeface="Public Sans" pitchFamily="34" charset="-122"/>
                <a:cs typeface="Public Sans" pitchFamily="34" charset="-120"/>
              </a:rPr>
              <a:t>Unbundling Omission</a:t>
            </a:r>
            <a:endParaRPr lang="en-US" sz="1300" dirty="0"/>
          </a:p>
        </p:txBody>
      </p:sp>
      <p:sp>
        <p:nvSpPr>
          <p:cNvPr id="12" name="Text 9"/>
          <p:cNvSpPr/>
          <p:nvPr/>
        </p:nvSpPr>
        <p:spPr>
          <a:xfrm>
            <a:off x="1047750" y="4076402"/>
            <a:ext cx="300863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50"/>
                </a:solidFill>
                <a:latin typeface="Public Sans" pitchFamily="34" charset="0"/>
                <a:ea typeface="Public Sans" pitchFamily="34" charset="-122"/>
                <a:cs typeface="Public Sans" pitchFamily="34" charset="-120"/>
              </a:rPr>
              <a:t>Fares exclude bags, seats and change fees, understating true yield on Ultra-Low-Cost Carriers (ULCCs).</a:t>
            </a:r>
            <a:endParaRPr lang="en-US" sz="1300" dirty="0"/>
          </a:p>
        </p:txBody>
      </p:sp>
      <p:sp>
        <p:nvSpPr>
          <p:cNvPr id="13" name="Shape 10"/>
          <p:cNvSpPr/>
          <p:nvPr/>
        </p:nvSpPr>
        <p:spPr>
          <a:xfrm>
            <a:off x="4410075" y="1548705"/>
            <a:ext cx="3384550" cy="4290120"/>
          </a:xfrm>
          <a:prstGeom prst="roundRect">
            <a:avLst>
              <a:gd name="adj" fmla="val 3659"/>
            </a:avLst>
          </a:prstGeom>
          <a:solidFill>
            <a:srgbClr val="FBFAF7"/>
          </a:solidFill>
          <a:ln w="6350">
            <a:solidFill>
              <a:srgbClr val="DDD8CE"/>
            </a:solidFill>
            <a:prstDash val="solid"/>
          </a:ln>
        </p:spPr>
      </p:sp>
      <p:sp>
        <p:nvSpPr>
          <p:cNvPr id="14" name="Text 11"/>
          <p:cNvSpPr/>
          <p:nvPr/>
        </p:nvSpPr>
        <p:spPr>
          <a:xfrm>
            <a:off x="4641850" y="192266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7A1F2B"/>
          </a:solidFill>
          <a:ln/>
        </p:spPr>
        <p:txBody>
          <a:bodyPr wrap="square" lIns="0" tIns="0" rIns="0" bIns="0" rtlCol="0" anchor="ctr">
            <a:normAutofit/>
          </a:bodyPr>
          <a:lstStyle/>
          <a:p>
            <a:pPr algn="ctr" indent="0" marL="0">
              <a:lnSpc>
                <a:spcPts val="1820"/>
              </a:lnSpc>
              <a:buNone/>
            </a:pPr>
            <a:r>
              <a:rPr lang="en-US" sz="1300" b="1" dirty="0">
                <a:solidFill>
                  <a:srgbClr val="F3F1EC"/>
                </a:solidFill>
                <a:latin typeface="Public Sans" pitchFamily="34" charset="0"/>
                <a:ea typeface="Public Sans" pitchFamily="34" charset="-122"/>
                <a:cs typeface="Public Sans" pitchFamily="34" charset="-120"/>
              </a:rPr>
              <a:t>02</a:t>
            </a:r>
            <a:endParaRPr lang="en-US" sz="1300" dirty="0"/>
          </a:p>
        </p:txBody>
      </p:sp>
      <p:sp>
        <p:nvSpPr>
          <p:cNvPr id="15" name="Text 12"/>
          <p:cNvSpPr/>
          <p:nvPr/>
        </p:nvSpPr>
        <p:spPr>
          <a:xfrm>
            <a:off x="5099050" y="1780480"/>
            <a:ext cx="2537714" cy="66536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6262A"/>
                </a:solidFill>
                <a:latin typeface="Libre Baskerville" pitchFamily="18" charset="0"/>
                <a:ea typeface="Libre Baskerville" pitchFamily="18" charset="-122"/>
                <a:cs typeface="Libre Baskerville" pitchFamily="18" charset="-120"/>
              </a:rPr>
              <a:t>ECONOMETRIC &amp; CAUSAL IDENTIFICATION</a:t>
            </a:r>
            <a:endParaRPr lang="en-US" sz="1400" dirty="0"/>
          </a:p>
        </p:txBody>
      </p:sp>
      <p:sp>
        <p:nvSpPr>
          <p:cNvPr id="16" name="Text 13"/>
          <p:cNvSpPr/>
          <p:nvPr/>
        </p:nvSpPr>
        <p:spPr>
          <a:xfrm>
            <a:off x="4641850" y="2572841"/>
            <a:ext cx="300863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7A1F2B"/>
                </a:solidFill>
                <a:latin typeface="Public Sans" pitchFamily="34" charset="0"/>
                <a:ea typeface="Public Sans" pitchFamily="34" charset="-122"/>
                <a:cs typeface="Public Sans" pitchFamily="34" charset="-120"/>
              </a:rPr>
              <a:t>Endogenous Fleet Deployment</a:t>
            </a:r>
            <a:endParaRPr lang="en-US" sz="1300" dirty="0"/>
          </a:p>
        </p:txBody>
      </p:sp>
      <p:sp>
        <p:nvSpPr>
          <p:cNvPr id="17" name="Text 14"/>
          <p:cNvSpPr/>
          <p:nvPr/>
        </p:nvSpPr>
        <p:spPr>
          <a:xfrm>
            <a:off x="4641850" y="2830016"/>
            <a:ext cx="3008630"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50"/>
                </a:solidFill>
                <a:latin typeface="Public Sans" pitchFamily="34" charset="0"/>
                <a:ea typeface="Public Sans" pitchFamily="34" charset="-122"/>
                <a:cs typeface="Public Sans" pitchFamily="34" charset="-120"/>
              </a:rPr>
              <a:t>Aircraft gauge and seating density vary with route density. Stage-length controls can’t fully absorb the unobserved cost efficiencies.</a:t>
            </a:r>
            <a:endParaRPr lang="en-US" sz="1300" dirty="0"/>
          </a:p>
        </p:txBody>
      </p:sp>
      <p:pic>
        <p:nvPicPr>
          <p:cNvPr id="18" name="Image 1" descr="line">    </p:cNvPr>
          <p:cNvPicPr>
            <a:picLocks noChangeAspect="1"/>
          </p:cNvPicPr>
          <p:nvPr/>
        </p:nvPicPr>
        <p:blipFill>
          <a:blip r:embed="rId2"/>
          <a:srcRect l="0" r="0" t="0" b="0"/>
          <a:stretch/>
        </p:blipFill>
        <p:spPr>
          <a:xfrm>
            <a:off x="4641850" y="3873798"/>
            <a:ext cx="2921000" cy="6350"/>
          </a:xfrm>
          <a:prstGeom prst="rect">
            <a:avLst/>
          </a:prstGeom>
        </p:spPr>
      </p:pic>
      <p:sp>
        <p:nvSpPr>
          <p:cNvPr id="19" name="Text 15"/>
          <p:cNvSpPr/>
          <p:nvPr/>
        </p:nvSpPr>
        <p:spPr>
          <a:xfrm>
            <a:off x="4641850" y="4032548"/>
            <a:ext cx="300863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7A1F2B"/>
                </a:solidFill>
                <a:latin typeface="Public Sans" pitchFamily="34" charset="0"/>
                <a:ea typeface="Public Sans" pitchFamily="34" charset="-122"/>
                <a:cs typeface="Public Sans" pitchFamily="34" charset="-120"/>
              </a:rPr>
              <a:t>Alternative Routing Baselines</a:t>
            </a:r>
            <a:endParaRPr lang="en-US" sz="1300" dirty="0"/>
          </a:p>
        </p:txBody>
      </p:sp>
      <p:sp>
        <p:nvSpPr>
          <p:cNvPr id="20" name="Text 16"/>
          <p:cNvSpPr/>
          <p:nvPr/>
        </p:nvSpPr>
        <p:spPr>
          <a:xfrm>
            <a:off x="4641850" y="4289723"/>
            <a:ext cx="3008630"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50"/>
                </a:solidFill>
                <a:latin typeface="Public Sans" pitchFamily="34" charset="0"/>
                <a:ea typeface="Public Sans" pitchFamily="34" charset="-122"/>
                <a:cs typeface="Public Sans" pitchFamily="34" charset="-120"/>
              </a:rPr>
              <a:t>Models cover direct O&amp;D pairs only. Adding connecting hub itineraries is needed to quantify full substitution elasticity.</a:t>
            </a:r>
            <a:endParaRPr lang="en-US" sz="1300" dirty="0"/>
          </a:p>
        </p:txBody>
      </p:sp>
      <p:sp>
        <p:nvSpPr>
          <p:cNvPr id="21" name="Shape 17"/>
          <p:cNvSpPr/>
          <p:nvPr/>
        </p:nvSpPr>
        <p:spPr>
          <a:xfrm>
            <a:off x="8001000" y="1545530"/>
            <a:ext cx="3378200" cy="4296470"/>
          </a:xfrm>
          <a:prstGeom prst="roundRect">
            <a:avLst>
              <a:gd name="adj" fmla="val 3759"/>
            </a:avLst>
          </a:prstGeom>
          <a:solidFill>
            <a:srgbClr val="26262A"/>
          </a:solidFill>
          <a:ln/>
        </p:spPr>
      </p:sp>
      <p:sp>
        <p:nvSpPr>
          <p:cNvPr id="22" name="Text 18"/>
          <p:cNvSpPr/>
          <p:nvPr/>
        </p:nvSpPr>
        <p:spPr>
          <a:xfrm>
            <a:off x="8229600" y="191631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B3262E"/>
          </a:solidFill>
          <a:ln/>
        </p:spPr>
        <p:txBody>
          <a:bodyPr wrap="square" lIns="0" tIns="0" rIns="0" bIns="0" rtlCol="0" anchor="ctr">
            <a:normAutofit/>
          </a:bodyPr>
          <a:lstStyle/>
          <a:p>
            <a:pPr algn="ctr" indent="0" marL="0">
              <a:lnSpc>
                <a:spcPts val="1820"/>
              </a:lnSpc>
              <a:buNone/>
            </a:pPr>
            <a:r>
              <a:rPr lang="en-US" sz="1300" b="1" dirty="0">
                <a:solidFill>
                  <a:srgbClr val="FFFEFB"/>
                </a:solidFill>
                <a:latin typeface="Public Sans" pitchFamily="34" charset="0"/>
                <a:ea typeface="Public Sans" pitchFamily="34" charset="-122"/>
                <a:cs typeface="Public Sans" pitchFamily="34" charset="-120"/>
              </a:rPr>
              <a:t>03</a:t>
            </a:r>
            <a:endParaRPr lang="en-US" sz="1300" dirty="0"/>
          </a:p>
        </p:txBody>
      </p:sp>
      <p:sp>
        <p:nvSpPr>
          <p:cNvPr id="23" name="Text 19"/>
          <p:cNvSpPr/>
          <p:nvPr/>
        </p:nvSpPr>
        <p:spPr>
          <a:xfrm>
            <a:off x="8686800" y="1774130"/>
            <a:ext cx="2537714" cy="66536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3F1EC"/>
                </a:solidFill>
                <a:latin typeface="Libre Baskerville" pitchFamily="18" charset="0"/>
                <a:ea typeface="Libre Baskerville" pitchFamily="18" charset="-122"/>
                <a:cs typeface="Libre Baskerville" pitchFamily="18" charset="-120"/>
              </a:rPr>
              <a:t>SCALABILITY &amp; PRODUCTION ROADMAP</a:t>
            </a:r>
            <a:endParaRPr lang="en-US" sz="1400" dirty="0"/>
          </a:p>
        </p:txBody>
      </p:sp>
      <p:sp>
        <p:nvSpPr>
          <p:cNvPr id="24" name="Text 20"/>
          <p:cNvSpPr/>
          <p:nvPr/>
        </p:nvSpPr>
        <p:spPr>
          <a:xfrm>
            <a:off x="8229600" y="2566491"/>
            <a:ext cx="300863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E3868F"/>
                </a:solidFill>
                <a:latin typeface="Public Sans" pitchFamily="34" charset="0"/>
                <a:ea typeface="Public Sans" pitchFamily="34" charset="-122"/>
                <a:cs typeface="Public Sans" pitchFamily="34" charset="-120"/>
              </a:rPr>
              <a:t>Real-Time API Ingestion</a:t>
            </a:r>
            <a:endParaRPr lang="en-US" sz="1300" dirty="0"/>
          </a:p>
        </p:txBody>
      </p:sp>
      <p:sp>
        <p:nvSpPr>
          <p:cNvPr id="25" name="Text 21"/>
          <p:cNvSpPr/>
          <p:nvPr/>
        </p:nvSpPr>
        <p:spPr>
          <a:xfrm>
            <a:off x="8229600" y="2823666"/>
            <a:ext cx="3008630"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6D2C8"/>
                </a:solidFill>
                <a:latin typeface="Public Sans" pitchFamily="34" charset="0"/>
                <a:ea typeface="Public Sans" pitchFamily="34" charset="-122"/>
                <a:cs typeface="Public Sans" pitchFamily="34" charset="-120"/>
              </a:rPr>
              <a:t>Move from historical BTS batch ingestion to live GDS / Google Flights API scrapers to track markups ahead of departure.</a:t>
            </a:r>
            <a:endParaRPr lang="en-US" sz="1300" dirty="0"/>
          </a:p>
        </p:txBody>
      </p:sp>
      <p:pic>
        <p:nvPicPr>
          <p:cNvPr id="26" name="Image 2" descr="line">    </p:cNvPr>
          <p:cNvPicPr>
            <a:picLocks noChangeAspect="1"/>
          </p:cNvPicPr>
          <p:nvPr/>
        </p:nvPicPr>
        <p:blipFill>
          <a:blip r:embed="rId3"/>
          <a:srcRect l="0" r="0" t="0" b="0"/>
          <a:stretch/>
        </p:blipFill>
        <p:spPr>
          <a:xfrm>
            <a:off x="8229600" y="3867448"/>
            <a:ext cx="2921000" cy="6350"/>
          </a:xfrm>
          <a:prstGeom prst="rect">
            <a:avLst/>
          </a:prstGeom>
        </p:spPr>
      </p:pic>
      <p:sp>
        <p:nvSpPr>
          <p:cNvPr id="27" name="Text 22"/>
          <p:cNvSpPr/>
          <p:nvPr/>
        </p:nvSpPr>
        <p:spPr>
          <a:xfrm>
            <a:off x="8229600" y="4026198"/>
            <a:ext cx="300863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E3868F"/>
                </a:solidFill>
                <a:latin typeface="Public Sans" pitchFamily="34" charset="0"/>
                <a:ea typeface="Public Sans" pitchFamily="34" charset="-122"/>
                <a:cs typeface="Public Sans" pitchFamily="34" charset="-120"/>
              </a:rPr>
              <a:t>Predictive Fair-Fare Microservice</a:t>
            </a:r>
            <a:endParaRPr lang="en-US" sz="1300" dirty="0"/>
          </a:p>
        </p:txBody>
      </p:sp>
      <p:sp>
        <p:nvSpPr>
          <p:cNvPr id="28" name="Text 23"/>
          <p:cNvSpPr/>
          <p:nvPr/>
        </p:nvSpPr>
        <p:spPr>
          <a:xfrm>
            <a:off x="8229600" y="4283373"/>
            <a:ext cx="3008630"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6D2C8"/>
                </a:solidFill>
                <a:latin typeface="Public Sans" pitchFamily="34" charset="0"/>
                <a:ea typeface="Public Sans" pitchFamily="34" charset="-122"/>
                <a:cs typeface="Public Sans" pitchFamily="34" charset="-120"/>
              </a:rPr>
              <a:t>Automated pricing engine flags anti-competitive corridor premiums and publishes monthly carrier concentration scorecards.</a:t>
            </a:r>
            <a:endParaRPr lang="en-US" sz="1300" dirty="0"/>
          </a:p>
        </p:txBody>
      </p:sp>
      <p:sp>
        <p:nvSpPr>
          <p:cNvPr id="29" name="Text 2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B6B70"/>
                </a:solidFill>
                <a:latin typeface="Public Sans" pitchFamily="34" charset="0"/>
                <a:ea typeface="Public Sans" pitchFamily="34" charset="-122"/>
                <a:cs typeface="Public Sans" pitchFamily="34" charset="-120"/>
              </a:rPr>
              <a:t>Quantifying the Airline “Monopoly Tax” · MIST 6380</a:t>
            </a:r>
            <a:endParaRPr lang="en-US" sz="1200" dirty="0"/>
          </a:p>
        </p:txBody>
      </p:sp>
      <p:sp>
        <p:nvSpPr>
          <p:cNvPr id="30" name="Text 2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7A1F2B"/>
                </a:solidFill>
                <a:latin typeface="Public Sans" pitchFamily="34" charset="0"/>
                <a:ea typeface="Public Sans" pitchFamily="34" charset="-122"/>
                <a:cs typeface="Public Sans" pitchFamily="34" charset="-120"/>
              </a:rPr>
              <a:t>08</a:t>
            </a:r>
            <a:endParaRPr lang="en-US" sz="1200" dirty="0"/>
          </a:p>
        </p:txBody>
      </p:sp>
    </p:spTree>
  </p:cSld>
  <p:clrMapOvr>
    <a:masterClrMapping/>
  </p:clrMapOvr>
</p:sld>
</file>

<file path=ppt/theme/theme1.xml><?xml version="1.0" encoding="utf-8"?>
<a:theme xmlns:a="http://schemas.openxmlformats.org/drawingml/2006/main" name="Quantifying the Airline “Monopoly Tax”">
  <a:themeElements>
    <a:clrScheme name="Quantifying the Airline “Monopoly Tax”">
      <a:dk1>
        <a:srgbClr val="26262A"/>
      </a:dk1>
      <a:lt1>
        <a:srgbClr val="F3F1EC"/>
      </a:lt1>
      <a:dk2>
        <a:srgbClr val="59595B"/>
      </a:dk2>
      <a:lt2>
        <a:srgbClr val="DFDDD9"/>
      </a:lt2>
      <a:accent1>
        <a:srgbClr val="7A1F2B"/>
      </a:accent1>
      <a:accent2>
        <a:srgbClr val="B3262E"/>
      </a:accent2>
      <a:accent3>
        <a:srgbClr val="E3868F"/>
      </a:accent3>
      <a:accent4>
        <a:srgbClr val="4A4A50"/>
      </a:accent4>
      <a:accent5>
        <a:srgbClr val="6B6B70"/>
      </a:accent5>
      <a:accent6>
        <a:srgbClr val="D6D2C8"/>
      </a:accent6>
      <a:hlink>
        <a:srgbClr val="0563C1"/>
      </a:hlink>
      <a:folHlink>
        <a:srgbClr val="954F72"/>
      </a:folHlink>
    </a:clrScheme>
    <a:fontScheme name="Quantifying the Airline “Monopoly Tax”">
      <a:majorFont>
        <a:latin typeface="Libre Baskervil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Quantifying the Airline “Monopoly Tax”</dc:title>
  <dc:subject/>
  <dc:creator/>
  <cp:lastModifiedBy/>
  <cp:revision>1</cp:revision>
  <dcterms:created xsi:type="dcterms:W3CDTF">2026-10-19T04:08:32Z</dcterms:created>
  <dcterms:modified xsi:type="dcterms:W3CDTF">2026-10-19T04:08:32Z</dcterms:modified>
</cp:coreProperties>
</file>